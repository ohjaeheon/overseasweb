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맑은 고딕"/>
              </a:defRPr>
            </a:pPr>
            <a:r>
              <a:t>OVERSEAS MISSION WEB PORTAL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해외선교부 포털 시스템</a:t>
            </a:r>
            <a:br/>
            <a:r>
              <a:t>사용자 가이드 &amp; 실무 화면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맑은 고딕"/>
              </a:defRPr>
            </a:pPr>
            <a:r>
              <a:t>실제 UI 화면 스크린샷과 단계별 조작 행동을 담은 사역자 표준 가이드북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맑은 고딕"/>
              </a:defRPr>
            </a:pPr>
            <a:r>
              <a:t>발행 버전 : v2.0 (화면 캡처 수록본)   |   발행 연도 : 2026년   |   대상 : 전도담당자 / 교역자 / 해외선교부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목 차 (화면별 가이드 구성 안내)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각 챕터별로 실제 포털 화면 스크린샷과 함께 조작 방법이 안내됩니다.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6420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최초 로그인 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로그인 화면 UI, 계정 입력 및 OTP 번호 인증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6420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로그인 후 해야하는 것들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프로필 화면 UI, 비밀번호 변경 및 권한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52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OTP설정 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텔레그램 연동 폼, 봇 검색 및 Chat ID 자동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432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2608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852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주간보고 작성방법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주간보고 화면 UI, 5대 부서별 지표 기입 및 제출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416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계획 작성 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전도 계획 탭 UI, 새 블록 추가 및 전략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93192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1148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0416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월간보고 작성방법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월간보고 탭 UI, 활동인원수 입력 및 수정 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3036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교회별 데이터 확인 방법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종합 진단 대시보드 UI, Funnel 분석 및 추이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120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303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부록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3036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자주 묻는 질문 (FAQ)</a:t>
            </a:r>
          </a:p>
          <a:p>
            <a:pPr>
              <a:defRPr sz="950">
                <a:solidFill>
                  <a:srgbClr val="64748B"/>
                </a:solidFill>
                <a:latin typeface="맑은 고딕"/>
              </a:defRPr>
            </a:pPr>
            <a:r>
              <a:t>로그인 오류, 텔레그램 미수신 등 문제 해결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1. 최초 로그인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로그인 화면 UI 및 2차 OTP 인증 절차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아이디 및 초기 임시 비밀번호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관리자로부터 발급받은 아이디(예: missionary_tokyo)와 초기 임시 비밀번호를 입력창에 넣습니다.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[로그인] 버튼 클릭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파란색 [로그인 (Login)] 버튼을 클릭하여 인증을 요청합니다.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텔레그램 수신 6자리 OTP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텔레그램으로 즉시 전송된 6자리 번호를 화면 우측 팝업에 입력하고 [인증 완료 및 로그인]을 누릅니다. (유효시간 3분)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팁】 텔레그램 자동 로그인 지원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텔레그램 앱 내 봇 대화창의 [포털 열기] 버튼 클릭 시 무암호 자동 로그인이 지원됩니다.</a:t>
            </a:r>
          </a:p>
        </p:txBody>
      </p:sp>
      <p:pic>
        <p:nvPicPr>
          <p:cNvPr id="7" name="Picture 6" descr="screen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2. 로그인 후 해야하는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회원 정보(프로필) 화면 및 필수 비밀번호 변경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소속 정보 및 배정 범위 점검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좌측 카드에서 본인의 소속 권한(ROLE_USER)과 데이터 접근 범위(담당 국가 및 교회 목록)가 맞는지 확인합니다.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새 비밀번호 2회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우측 카드에서 [현재 비밀번호] 입력 후, 사용할 [새 비밀번호]와 [새 비밀번호 확인]을 동일하게 입력합니다.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[비밀번호 변경] 클릭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하단의 [비밀번호 변경 완료] 버튼을 누르면 새 비밀번호가 저장되며 초기 비밀번호 경고가 해제됩니다.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점검】 상단 네비게이션 확인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홈/진단, 주간보고, 전도관리(계획/월간) 주요 메뉴 위치를 숙지합니다.</a:t>
            </a:r>
          </a:p>
        </p:txBody>
      </p:sp>
      <p:pic>
        <p:nvPicPr>
          <p:cNvPr id="7" name="Picture 6" descr="screen_02_profile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3. OTP설정 방법 (2단계 보안 인증)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텔레그램 봇 연동 및 Chat ID 등록 설정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Telegram ID 등록 &amp; 저장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[회원 정보] 좌측 폼에서 본인의 Telegram ID(@사용자명)를 입력하고 [연동 정보 저장]을 누릅니다.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텔레그램 봇 대화 시작 (/start)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텔레그램 앱에서 포털 전용 봇을 검색 후 [시작] 또는 /start를 누르면 Chat ID가 포털에 자동 등록됩니다.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[테스트 발송] 클릭 및 수신 확인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우측 하단 [테스트 메시지 발송]을 눌러 텔레그램으로 알림이 정상 도착하는지 확인합니다.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수동연동】 /myid 명령어 지원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자동 연동이 안 될 경우 봇에게 /myid 전송 후 알려준 숫자 ID를 직접 입력해 저장할 수 있습니다.</a:t>
            </a:r>
          </a:p>
        </p:txBody>
      </p:sp>
      <p:pic>
        <p:nvPicPr>
          <p:cNvPr id="7" name="Picture 6" descr="screen_03_otp_tele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4. 전도담당자로써, 주간보고 작성방법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주간보고 작성, 5대 부서 지표 기입, 사진 첨부 및 최종 제출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교회 및 보고 주차 선택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상단 드롭다운에서 [담당 교회]와 [작성 주차(예: 8월 3주차)]를 선택합니다.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5대 부서별 전도 지표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교역자, 자문회, 장년회, 부녀회, 청년회의 재적, 찾기, 복음방, 가개강, 입교, 탈락수를 표에 직접 기입합니다. (합계 자동 계산)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현장 사진 &amp; 특이사항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우측 사진 영역을 클릭해 현장 사진을 첨부하고 사역 특이사항/기도제목을 작성합니다.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[4]번】 [최종 제출] 클릭 (마감 준수)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[임시 저장]으로 중간 보관이 가능하며, 매주 일요일 자정(24:00) 마감 전 [최종 제출]을 완료합니다.</a:t>
            </a:r>
          </a:p>
        </p:txBody>
      </p:sp>
      <p:pic>
        <p:nvPicPr>
          <p:cNvPr id="7" name="Picture 6" descr="screen_04_weekly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756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5. 계획 작성 방법 (전도 계획 수립)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전도관리 &gt; 전도 계획(Plan) 탭 작성 및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[전도 계획 (Plan)] 서브탭 선택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상단 [전도관리] 메뉴의 3번째 서브탭인 [전도 계획 (Plan)]으로 이동합니다.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[+ 새 계획 블록 추가] 클릭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상단 우측의 파란색 버튼을 눌러 새로운 전략 카드 블록을 추가합니다.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전략 제목 및 실행 내용 작성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전략 명칭(예: 대학가 집중 캠페인)과 목표 대상, 실행 방안, 기대 효과를 상세히 기입합니다.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[4]번】 [💾 계획 저장] 클릭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초록색 [계획 저장 완료]를 클릭하면 서버에 즉시 반영되며 최종 수정자/일시가 기록됩니다.</a:t>
            </a:r>
          </a:p>
        </p:txBody>
      </p:sp>
      <p:pic>
        <p:nvPicPr>
          <p:cNvPr id="7" name="Picture 6" descr="screen_05_plan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6. 월간보고 작성방법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전도관리 &gt; 월간보고 결산, 자동 연산 및 수정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보고 연도 및 대상 월 선택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상단 컨트롤 바에서 대상 [연도]와 [월(1월~12월)]을 선택합니다.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실활동 인원수 &amp; 사역자수 입력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[수정 모드]를 활성화한 뒤 부서별 [실활동 인원수]와 [전도 사역자(인도자수)]를 입력합니다.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활동률 &amp; 전년 증감율 자동 계산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전도재적 대비 활동률(%) 및 전년 동월 대비 증감율이 실시간 자동 산출됩니다.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[4]번】 과거월 [수정 권한 요청]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이미 마감된 지난 달 데이터는 [수정 권한 요청] 버튼을 눌러 관리자 승인을 받습니다.</a:t>
            </a:r>
          </a:p>
        </p:txBody>
      </p:sp>
      <p:pic>
        <p:nvPicPr>
          <p:cNvPr id="7" name="Picture 6" descr="screen_06_monthly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CHAPTER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7. 교회별 데이터 확인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종합 진단 대시보드, Funnel 전환 분석, 주차별 추이 그래프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[1]번】 글로벌 KPI 요약 카드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전 세계 총 전도재적, 당주차 복음방 개설수, 시온입교 달성 실적을 한눈에 조회합니다.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[2]번】 단계별 전도 Funnel 퍼널 분석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[찾기 → 복음방 → 가개강 → 시온입교] 단계별 전환율과 이탈(Drop) 현황을 시각화합니다.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[3]번】 다중 교회 주차별 비교 추이 그래프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도쿄, 오사카, 나고야 등 거점 교회의 주차별 성장 곡선을 상호 비교합니다.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【화면 활용】 취합 &amp; 통계표 활용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  <a:latin typeface="맑은 고딕"/>
              </a:defRPr>
            </a:pPr>
            <a:r>
              <a:t>부서별 누적 기여도 피벗 테이블 및 엑셀 다운로드 기능을 활용할 수 있습니다.</a:t>
            </a:r>
          </a:p>
        </p:txBody>
      </p:sp>
      <p:pic>
        <p:nvPicPr>
          <p:cNvPr id="7" name="Picture 6" descr="screen_07_diagnosi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6309360" cy="3822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맑은 고딕"/>
              </a:defRPr>
            </a:pPr>
            <a:r>
              <a:t>부록. 자주 묻는 질문 (FAQ) &amp;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맑은 고딕"/>
              </a:defRPr>
            </a:pPr>
            <a:r>
              <a:t>사역자분들이 자주 겪는 주요 문의 사항과 조치 방법입니다.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Q. 텔레그램으로 OTP 인증번호가 오지 않습니다.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맑은 고딕"/>
              </a:defRPr>
            </a:pPr>
            <a:r>
              <a:t>A. ① [회원 정보]의 Telegram ID가 본인의 실제 @아이디와 일치하는지 확인하세요.</a:t>
            </a:r>
            <a:br/>
            <a:r>
              <a:t>② 텔레그램 앱에서 포털 전용 봇에게 /start 또는 /myid 메시지를 정상 발송했는지 확인하세요.</a:t>
            </a:r>
            <a:br/>
            <a:r>
              <a:t>③ 프로필 페이지에서 [테스트 발송]을 눌러 정상 수신 여부를 점검하세요.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8688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Q. 주간보고 제출 후 오타를 발견했는데 수정이 안 됩니다.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맑은 고딕"/>
              </a:defRPr>
            </a:pPr>
            <a:r>
              <a:t>A. 주간보고는 매주 일요일 자정에 자동 마감(Lock)됩니다. 마감 전이라면 언제든 수정 가능하나, 마감된 지난 주차의 경우 상급 관리자에게 문의하여 잠금 해제를 요청하셔야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73168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Q. 담당하지 않는 타 교회의 데이터는 왜 조회가 안 되나요?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맑은 고딕"/>
              </a:defRPr>
            </a:pPr>
            <a:r>
              <a:t>A. 시스템 보안 및 데이터 보호 정책상 각 사역자는 본인에게 배정된 국가 및 담당 교회의 데이터만 접근할 수 있습니다. 추가 권한이 필요한 경우 총괄 관리자에게 권한 조정을 요청하세요.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  <a:p>
            <a:pPr algn="ctr">
              <a:spcBef>
                <a:spcPts val="1200"/>
              </a:spcBef>
              <a:defRPr sz="1400">
                <a:solidFill>
                  <a:srgbClr val="06B6D4"/>
                </a:solidFill>
                <a:latin typeface="맑은 고딕"/>
              </a:defRPr>
            </a:pPr>
            <a:r>
              <a:t>해외선교부 포털 시스템을 통해 전 세계 사역의 승리와 발전을 기원합니다.</a:t>
            </a:r>
          </a:p>
          <a:p>
            <a:pPr algn="ctr">
              <a:spcBef>
                <a:spcPts val="2400"/>
              </a:spcBef>
              <a:defRPr sz="1100">
                <a:solidFill>
                  <a:srgbClr val="94A3B8"/>
                </a:solidFill>
                <a:latin typeface="맑은 고딕"/>
              </a:defRPr>
            </a:pPr>
            <a:r>
              <a:t>시스템 이용 및 권한 문의 : 해외선교부 전산관리팀 / 총괄 관리자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