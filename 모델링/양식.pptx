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164" r:id="rId1"/>
    <p:sldMasterId id="2147484166" r:id="rId2"/>
  </p:sldMasterIdLst>
  <p:notesMasterIdLst>
    <p:notesMasterId r:id="rId6"/>
  </p:notesMasterIdLst>
  <p:sldIdLst>
    <p:sldId id="566" r:id="rId3"/>
    <p:sldId id="257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TxStyle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TxStyle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TxStyle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TxStyle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TxStyle/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28" autoAdjust="0"/>
    <p:restoredTop sz="91371" autoAdjust="0"/>
  </p:normalViewPr>
  <p:slideViewPr>
    <p:cSldViewPr snapToGrid="0">
      <p:cViewPr varScale="1">
        <p:scale>
          <a:sx n="147" d="100"/>
          <a:sy n="147" d="100"/>
        </p:scale>
        <p:origin x="282" y="144"/>
      </p:cViewPr>
      <p:guideLst>
        <p:guide orient="horz" pos="2157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453A579-758B-41AA-8324-91EC10FFDADD}" type="datetime1">
              <a:rPr lang="ko-KR" altLang="en-US"/>
              <a:pPr lvl="0">
                <a:defRPr/>
              </a:pPr>
              <a:t>2026-08-09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56721035-7D50-48FC-BA1F-C5ED576B441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69543-CE1B-ABF8-FFB8-E435F4973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E4F806-460C-6C4D-C1CC-BD21408AF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9DF930-7A19-9472-DA3B-467114A1F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EE83-535C-418B-82D1-4E2D4876510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BBE3F0-6787-B156-F2A4-106A64514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689E87-A034-41BF-4BBD-6314C08B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3FB-0989-47D2-9B70-45646F7017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758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73277-1448-C3F6-2EA7-FBF1303DF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594A3D-7743-C288-A7C3-FEAC4D1B7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2357E-FBA3-8435-BBC9-2724BA45E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EE83-535C-418B-82D1-4E2D4876510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089BD-5103-9884-4ADB-3E7C01ABA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1A493D-8570-01BE-A610-2E277918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3FB-0989-47D2-9B70-45646F7017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157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007EB-9C10-0CA5-1DA7-35A8ED645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114C92-5A30-9BE4-4AC0-1ED0A1EC3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21828C-B7FD-CCD4-1EA1-C61C57757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EE83-535C-418B-82D1-4E2D4876510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92A0A5-3599-A94F-AF79-111794E2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C00009-D615-9F2D-DB85-F59BB3C5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3FB-0989-47D2-9B70-45646F7017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96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7E3065-DC6A-2C35-062D-9071A9A79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F31C93-E04C-D010-3AB0-A663DE065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7A7547-197E-B2BB-CA32-C8E385E7D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3B53FE-43E5-267D-C735-50FFCE53C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EE83-535C-418B-82D1-4E2D4876510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6DC128-275A-54B8-17BF-40591B83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4468B9-BAFB-0CE6-3A9F-6AB4D59C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3FB-0989-47D2-9B70-45646F7017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6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FDE95-F229-0932-AAE6-7C27EC82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A2DEAD-A5E5-DD45-331B-F271846F1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194BD3-86E8-A185-5AFC-D0489DBBE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9ABF09-A2BF-8E97-16A9-3C095F0DD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952947-1F23-A125-6EA8-74C49D120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468E45-9AC8-7E6F-B547-5712A65D8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EE83-535C-418B-82D1-4E2D4876510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6F0356-2117-9A7F-BCA7-C11CC51C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6D7BBE-14E3-7CE5-5B47-7CD4302E2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3FB-0989-47D2-9B70-45646F7017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78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1E6AE-39FB-35EA-B301-B7B22DFF7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F3A0A0-289B-F12E-AC84-F931EED6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EE83-535C-418B-82D1-4E2D4876510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416005-54CE-A1E8-7013-781081834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63C0A5-C5FA-0EA9-2330-FE81406D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3FB-0989-47D2-9B70-45646F7017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198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A78386-D162-D481-C6BD-D94010153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EE83-535C-418B-82D1-4E2D4876510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2310C1-5C42-3F76-5768-5806F71C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705E33-11A5-8772-16BC-16B986564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3FB-0989-47D2-9B70-45646F7017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65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3BC8B-2694-E73A-1615-9D1801C69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5ADBE4-DF1C-1821-4FE0-841B90D44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31C0-8154-FCBD-1810-45F5C7212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363358-50E5-E8E0-1488-B20795AC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EE83-535C-418B-82D1-4E2D4876510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B99CBB-2A73-BB00-2CFA-4C69A1B29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E1A5FB-A853-B43E-2CAE-F6114FE5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3FB-0989-47D2-9B70-45646F7017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792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5078B-4110-5394-B577-C97F26389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1FAEAB-7CFE-0600-F2F7-4E11E89FE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C80DAE-0E88-F207-1627-669448E5D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94075E-1FF0-866D-F02B-6992CD8A8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EE83-535C-418B-82D1-4E2D4876510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9C9F5D-7A32-43F7-828F-A4CAE2BF7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CD64C3-FA39-C316-01F2-43638682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3FB-0989-47D2-9B70-45646F7017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7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1A7FC-2069-8B6A-5886-19D039C3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0ADFAC-A46C-2A13-CFE5-B310E3BD6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5A2041-2FBB-42CD-3725-E365BEFB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EE83-535C-418B-82D1-4E2D4876510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67EFBF-78FB-2F01-327A-5FF02E43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5157CB-E99E-FDF0-7015-1D9AA0EC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3FB-0989-47D2-9B70-45646F7017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12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FA7D28-C161-0B0E-A89C-2F2A4166A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4DEE9C-C8CD-C862-7B83-7AFEE40DE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BD969C-074D-ED33-9E5C-101A8F36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EE83-535C-418B-82D1-4E2D48765104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F0AAF-DF5F-D4FC-BC6B-23C54D83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842744-BDB7-75D6-02C8-D067EE6B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3FB-0989-47D2-9B70-45646F7017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535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 lang="ko-KR" altLang="en-US"/>
              <a:t>제목 텍스트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9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  <a:lvl2pPr algn="ctr">
              <a:defRPr>
                <a:solidFill>
                  <a:srgbClr val="000000"/>
                </a:solidFill>
              </a:defRPr>
            </a:lvl2pPr>
            <a:lvl3pPr algn="ctr">
              <a:defRPr>
                <a:solidFill>
                  <a:srgbClr val="000000"/>
                </a:solidFill>
              </a:defRPr>
            </a:lvl3pPr>
            <a:lvl4pPr algn="ctr">
              <a:defRPr>
                <a:solidFill>
                  <a:srgbClr val="000000"/>
                </a:solidFill>
              </a:defRPr>
            </a:lvl4pPr>
            <a:lvl5pPr algn="ctr">
              <a:defRPr>
                <a:solidFill>
                  <a:srgbClr val="000000"/>
                </a:solidFill>
              </a:defRPr>
            </a:lvl5pPr>
          </a:lstStyle>
          <a:p>
            <a:pPr>
              <a:defRPr/>
            </a:pPr>
            <a:r>
              <a:rPr lang="ko-KR" altLang="en-US"/>
              <a:t>본문 첫 번째 줄</a:t>
            </a:r>
          </a:p>
          <a:p>
            <a:pPr lvl="1">
              <a:defRPr/>
            </a:pPr>
            <a:r>
              <a:rPr lang="ko-KR" altLang="en-US"/>
              <a:t>본문 두 번째 줄</a:t>
            </a:r>
          </a:p>
          <a:p>
            <a:pPr lvl="2">
              <a:defRPr/>
            </a:pPr>
            <a:r>
              <a:rPr lang="ko-KR" altLang="en-US"/>
              <a:t>본문 세 번째 줄</a:t>
            </a:r>
          </a:p>
          <a:p>
            <a:pPr lvl="3">
              <a:defRPr/>
            </a:pPr>
            <a:r>
              <a:rPr lang="ko-KR" altLang="en-US"/>
              <a:t>본문 네 번째 줄</a:t>
            </a:r>
          </a:p>
          <a:p>
            <a:pPr lvl="4">
              <a:defRPr/>
            </a:pPr>
            <a:r>
              <a:rPr lang="ko-KR" altLang="en-US"/>
              <a:t>본문 다섯 번째 줄</a:t>
            </a:r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6134475"/>
            <a:ext cx="10985500" cy="3302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412750">
              <a:spcBef>
                <a:spcPts val="0"/>
              </a:spcBef>
              <a:buSzTx/>
              <a:buNone/>
              <a:defRPr sz="165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저자 및 날짜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3250" y="3676650"/>
            <a:ext cx="10985500" cy="1003300"/>
          </a:xfrm>
          <a:prstGeom prst="rect">
            <a:avLst/>
          </a:prstGeom>
        </p:spPr>
        <p:txBody>
          <a:bodyPr/>
          <a:lstStyle>
            <a:lvl1pPr marL="0" indent="0" defTabSz="412750">
              <a:spcBef>
                <a:spcPts val="0"/>
              </a:spcBef>
              <a:buSzTx/>
              <a:buNone/>
              <a:defRPr sz="2750">
                <a:latin typeface="+mn-lt"/>
                <a:ea typeface="+mn-ea"/>
                <a:cs typeface="+mn-cs"/>
                <a:sym typeface="Produkt Extralight"/>
              </a:defRPr>
            </a:lvl1pPr>
            <a:lvl2pPr marL="0" indent="228600" defTabSz="412750">
              <a:spcBef>
                <a:spcPts val="0"/>
              </a:spcBef>
              <a:buSzTx/>
              <a:buNone/>
              <a:defRPr sz="2750">
                <a:latin typeface="+mn-lt"/>
                <a:ea typeface="+mn-ea"/>
                <a:cs typeface="+mn-cs"/>
                <a:sym typeface="Produkt Extralight"/>
              </a:defRPr>
            </a:lvl2pPr>
            <a:lvl3pPr marL="0" indent="457200" defTabSz="412750">
              <a:spcBef>
                <a:spcPts val="0"/>
              </a:spcBef>
              <a:buSzTx/>
              <a:buNone/>
              <a:defRPr sz="2750">
                <a:latin typeface="+mn-lt"/>
                <a:ea typeface="+mn-ea"/>
                <a:cs typeface="+mn-cs"/>
                <a:sym typeface="Produkt Extralight"/>
              </a:defRPr>
            </a:lvl3pPr>
            <a:lvl4pPr marL="0" indent="685800" defTabSz="412750">
              <a:spcBef>
                <a:spcPts val="0"/>
              </a:spcBef>
              <a:buSzTx/>
              <a:buNone/>
              <a:defRPr sz="2750">
                <a:latin typeface="+mn-lt"/>
                <a:ea typeface="+mn-ea"/>
                <a:cs typeface="+mn-cs"/>
                <a:sym typeface="Produkt Extralight"/>
              </a:defRPr>
            </a:lvl4pPr>
            <a:lvl5pPr marL="0" indent="914400" defTabSz="412750">
              <a:spcBef>
                <a:spcPts val="0"/>
              </a:spcBef>
              <a:buSzTx/>
              <a:buNone/>
              <a:defRPr sz="275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603250" y="1308100"/>
            <a:ext cx="10985502" cy="2324100"/>
          </a:xfrm>
          <a:prstGeom prst="rect">
            <a:avLst/>
          </a:prstGeom>
        </p:spPr>
        <p:txBody>
          <a:bodyPr anchor="b"/>
          <a:lstStyle>
            <a:lvl1pPr defTabSz="177800">
              <a:defRPr sz="6000" spc="-60"/>
            </a:lvl1pPr>
          </a:lstStyle>
          <a:p>
            <a:r>
              <a:t>프레젠테이션 제목</a:t>
            </a:r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114157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>제목 텍스트</a:t>
            </a:r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>본문 첫 번째 줄</a:t>
            </a:r>
          </a:p>
          <a:p>
            <a:pPr lvl="1">
              <a:defRPr/>
            </a:pPr>
            <a:r>
              <a:rPr lang="ko-KR" altLang="en-US"/>
              <a:t>본문 두 번째 줄</a:t>
            </a:r>
          </a:p>
          <a:p>
            <a:pPr lvl="2">
              <a:defRPr/>
            </a:pPr>
            <a:r>
              <a:rPr lang="ko-KR" altLang="en-US"/>
              <a:t>본문 세 번째 줄</a:t>
            </a:r>
          </a:p>
          <a:p>
            <a:pPr lvl="3">
              <a:defRPr/>
            </a:pPr>
            <a:r>
              <a:rPr lang="ko-KR" altLang="en-US"/>
              <a:t>본문 네 번째 줄</a:t>
            </a:r>
          </a:p>
          <a:p>
            <a:pPr lvl="4">
              <a:defRPr/>
            </a:pPr>
            <a:r>
              <a:rPr lang="ko-KR" altLang="en-US"/>
              <a:t>본문 다섯 번째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제목 텍스트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650777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88470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제목 텍스트</a:t>
            </a:r>
          </a:p>
        </p:txBody>
      </p:sp>
      <p:sp>
        <p:nvSpPr>
          <p:cNvPr id="30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836228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8854676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861804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0643005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9265962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텍스트 개체 틀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066767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제목 텍스트</a:t>
            </a:r>
          </a:p>
        </p:txBody>
      </p:sp>
      <p:sp>
        <p:nvSpPr>
          <p:cNvPr id="83" name="그림 개체 틀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017020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제목 텍스트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제목 텍스트</a:t>
            </a:r>
          </a:p>
        </p:txBody>
      </p:sp>
      <p:sp>
        <p:nvSpPr>
          <p:cNvPr id="93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7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948937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Pr>
        <a:blipFill dpi="0" rotWithShape="1">
          <a:blip r:embed="rId16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859FEE83-535C-418B-82D1-4E2D48765104}" type="datetime1">
              <a:rPr lang="ko-KR" altLang="en-US"/>
              <a:pPr lvl="0">
                <a:defRPr/>
              </a:pPr>
              <a:t>2026-08-09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C59653FB-0989-47D2-9B70-45646F70178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103" r:id="rId2"/>
    <p:sldLayoutId id="2147484104" r:id="rId3"/>
    <p:sldLayoutId id="2147484105" r:id="rId4"/>
    <p:sldLayoutId id="2147484106" r:id="rId5"/>
    <p:sldLayoutId id="2147484107" r:id="rId6"/>
    <p:sldLayoutId id="2147484108" r:id="rId7"/>
    <p:sldLayoutId id="2147484109" r:id="rId8"/>
    <p:sldLayoutId id="2147484110" r:id="rId9"/>
    <p:sldLayoutId id="2147484111" r:id="rId10"/>
    <p:sldLayoutId id="2147484112" r:id="rId11"/>
    <p:sldLayoutId id="2147484113" r:id="rId12"/>
    <p:sldLayoutId id="2147484114" r:id="rId13"/>
    <p:sldLayoutId id="2147484115" r:id="rId14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959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68" r:id="rId2"/>
    <p:sldLayoutId id="2147484169" r:id="rId3"/>
    <p:sldLayoutId id="2147484170" r:id="rId4"/>
    <p:sldLayoutId id="2147484171" r:id="rId5"/>
    <p:sldLayoutId id="2147484172" r:id="rId6"/>
    <p:sldLayoutId id="2147484173" r:id="rId7"/>
    <p:sldLayoutId id="2147484174" r:id="rId8"/>
    <p:sldLayoutId id="2147484175" r:id="rId9"/>
    <p:sldLayoutId id="2147484176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7211D-AAC7-DF6A-D8EB-89431E9CD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4">
            <a:extLst>
              <a:ext uri="{FF2B5EF4-FFF2-40B4-BE49-F238E27FC236}">
                <a16:creationId xmlns:a16="http://schemas.microsoft.com/office/drawing/2014/main" id="{B0ED5355-D59D-299A-105B-A133214ED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447" y="72483"/>
            <a:ext cx="712429" cy="7124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33288C-2AE2-E7CF-1E34-BC4F333B2DCE}"/>
              </a:ext>
            </a:extLst>
          </p:cNvPr>
          <p:cNvSpPr txBox="1"/>
          <p:nvPr/>
        </p:nvSpPr>
        <p:spPr>
          <a:xfrm>
            <a:off x="8578424" y="-79137"/>
            <a:ext cx="2788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  <a:cs typeface="+mn-cs"/>
              </a:rPr>
              <a:t>新天記 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  <a:cs typeface="+mn-cs"/>
              </a:rPr>
              <a:t>43 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  <a:cs typeface="+mn-cs"/>
              </a:rPr>
              <a:t>年</a:t>
            </a:r>
            <a:endParaRPr kumimoji="0" lang="en-US" altLang="ko-KR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견명조" panose="02030600000101010101" pitchFamily="18" charset="-127"/>
              <a:ea typeface="HY견명조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  <a:cs typeface="+mn-cs"/>
              </a:rPr>
              <a:t>사명완수의 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234518-ACE2-E650-3328-B975AF2BB462}"/>
              </a:ext>
            </a:extLst>
          </p:cNvPr>
          <p:cNvSpPr txBox="1"/>
          <p:nvPr/>
        </p:nvSpPr>
        <p:spPr>
          <a:xfrm>
            <a:off x="1989906" y="3437901"/>
            <a:ext cx="820371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타이틀고딕3" panose="02020600000000000000" pitchFamily="18" charset="-127"/>
                <a:ea typeface="a타이틀고딕3" panose="02020600000000000000" pitchFamily="18" charset="-127"/>
                <a:cs typeface="KoPubWorld돋움체 Medium" panose="00000600000000000000" pitchFamily="2" charset="-127"/>
              </a:rPr>
              <a:t>주간보고</a:t>
            </a:r>
            <a:endParaRPr kumimoji="0" lang="ko-KR" altLang="en-US" sz="1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타이틀고딕3" panose="02020600000000000000" pitchFamily="18" charset="-127"/>
              <a:ea typeface="a타이틀고딕3" panose="02020600000000000000" pitchFamily="18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A1663E-B46B-2850-2FCA-6368A91B3E43}"/>
              </a:ext>
            </a:extLst>
          </p:cNvPr>
          <p:cNvSpPr txBox="1"/>
          <p:nvPr/>
        </p:nvSpPr>
        <p:spPr>
          <a:xfrm>
            <a:off x="2112947" y="2092189"/>
            <a:ext cx="795763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타이틀고딕3" panose="02020600000000000000" pitchFamily="18" charset="-127"/>
                <a:ea typeface="a타이틀고딕3" panose="02020600000000000000" pitchFamily="18" charset="-127"/>
                <a:cs typeface="+mn-cs"/>
              </a:rPr>
              <a:t>OO</a:t>
            </a:r>
            <a:r>
              <a:rPr kumimoji="0" lang="ko-KR" alt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타이틀고딕3" panose="02020600000000000000" pitchFamily="18" charset="-127"/>
                <a:ea typeface="a타이틀고딕3" panose="02020600000000000000" pitchFamily="18" charset="-127"/>
                <a:cs typeface="+mn-cs"/>
              </a:rPr>
              <a:t>교회</a:t>
            </a:r>
            <a:endParaRPr kumimoji="0" lang="ko-KR" altLang="en-US" sz="1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타이틀고딕3" panose="02020600000000000000" pitchFamily="18" charset="-127"/>
              <a:ea typeface="a타이틀고딕3" panose="02020600000000000000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1799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표 1"/>
          <p:cNvGraphicFramePr/>
          <p:nvPr>
            <p:extLst>
              <p:ext uri="{D42A27DB-BD31-4B8C-83A1-F6EECF244321}">
                <p14:modId xmlns:p14="http://schemas.microsoft.com/office/powerpoint/2010/main" val="859861004"/>
              </p:ext>
            </p:extLst>
          </p:nvPr>
        </p:nvGraphicFramePr>
        <p:xfrm>
          <a:off x="479306" y="1510043"/>
          <a:ext cx="11361595" cy="1334400"/>
        </p:xfrm>
        <a:graphic>
          <a:graphicData uri="http://schemas.openxmlformats.org/drawingml/2006/table">
            <a:tbl>
              <a:tblPr/>
              <a:tblGrid>
                <a:gridCol w="1490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4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4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7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77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pc="-150"/>
                        <a:t>총재적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 b="1" spc="-150"/>
                      </a:pPr>
                      <a:r>
                        <a:t>출결재적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  <a:p>
                      <a:pPr algn="ctr">
                        <a:defRPr sz="1800" b="1" spc="-150">
                          <a:solidFill>
                            <a:srgbClr val="3333FF"/>
                          </a:solidFill>
                        </a:defRPr>
                      </a:pPr>
                      <a:r>
                        <a:t>(입교이상)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pc="-150"/>
                        <a:t>출석자수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defRPr sz="1800" b="1" spc="-150"/>
                      </a:pPr>
                      <a:r>
                        <a:t>전체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  <a:p>
                      <a:pPr algn="ctr">
                        <a:defRPr sz="1800" b="1" spc="-150"/>
                      </a:pPr>
                      <a:r>
                        <a:t>출석수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 b="1" spc="-150"/>
                      </a:pPr>
                      <a:r>
                        <a:t>전체</a:t>
                      </a:r>
                    </a:p>
                    <a:p>
                      <a:pPr algn="ctr">
                        <a:defRPr sz="1800" b="1" spc="-150"/>
                      </a:pPr>
                      <a:r>
                        <a:t>출석률(%)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 b="1" spc="-150">
                          <a:solidFill>
                            <a:srgbClr val="FF0000"/>
                          </a:solidFill>
                        </a:defRPr>
                      </a:pPr>
                      <a:r>
                        <a:t>전체 </a:t>
                      </a:r>
                      <a:r>
                        <a:rPr>
                          <a:solidFill>
                            <a:srgbClr val="000000"/>
                          </a:solidFill>
                        </a:rPr>
                        <a:t>출석률</a:t>
                      </a:r>
                    </a:p>
                    <a:p>
                      <a:pPr algn="ctr">
                        <a:defRPr sz="1800" b="1" spc="-150"/>
                      </a:pPr>
                      <a:r>
                        <a:t>변동(%)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 b="1" spc="-150">
                          <a:solidFill>
                            <a:srgbClr val="FF0000"/>
                          </a:solidFill>
                        </a:defRPr>
                      </a:pPr>
                      <a:r>
                        <a:t>전주 대비 </a:t>
                      </a:r>
                    </a:p>
                    <a:p>
                      <a:pPr algn="ctr">
                        <a:defRPr sz="1800" b="1" spc="-150">
                          <a:solidFill>
                            <a:srgbClr val="FF0000"/>
                          </a:solidFill>
                        </a:defRPr>
                      </a:pPr>
                      <a:r>
                        <a:t>대면 </a:t>
                      </a:r>
                      <a:r>
                        <a:rPr>
                          <a:solidFill>
                            <a:srgbClr val="000000"/>
                          </a:solidFill>
                        </a:rPr>
                        <a:t>출석률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  <a:p>
                      <a:pPr algn="ctr">
                        <a:defRPr sz="1800" b="1" spc="-150"/>
                      </a:pPr>
                      <a:r>
                        <a:t>변동(%)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 spc="-150"/>
                      </a:pPr>
                      <a:r>
                        <a:t>오프라인(%)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 spc="-150"/>
                      </a:pPr>
                      <a:r>
                        <a:t>온라인(%)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9" name="직사각형 5"/>
          <p:cNvSpPr txBox="1"/>
          <p:nvPr/>
        </p:nvSpPr>
        <p:spPr>
          <a:xfrm>
            <a:off x="19842" y="997080"/>
            <a:ext cx="9711514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/>
            </a:pPr>
            <a:r>
              <a:rPr kumimoji="0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1. 예배출결 현황</a:t>
            </a:r>
          </a:p>
        </p:txBody>
      </p:sp>
      <p:graphicFrame>
        <p:nvGraphicFramePr>
          <p:cNvPr id="110" name="표 10"/>
          <p:cNvGraphicFramePr/>
          <p:nvPr>
            <p:extLst>
              <p:ext uri="{D42A27DB-BD31-4B8C-83A1-F6EECF244321}">
                <p14:modId xmlns:p14="http://schemas.microsoft.com/office/powerpoint/2010/main" val="1200581934"/>
              </p:ext>
            </p:extLst>
          </p:nvPr>
        </p:nvGraphicFramePr>
        <p:xfrm>
          <a:off x="479306" y="3534650"/>
          <a:ext cx="11361591" cy="1061180"/>
        </p:xfrm>
        <a:graphic>
          <a:graphicData uri="http://schemas.openxmlformats.org/drawingml/2006/table">
            <a:tbl>
              <a:tblPr firstRow="1"/>
              <a:tblGrid>
                <a:gridCol w="142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0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0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0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5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1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32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6849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spc="-150"/>
                        <a:t>총 등록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spc="-150"/>
                        <a:t>현 수강수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spc="-150"/>
                        <a:t>결석수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spc="-150"/>
                        <a:t>출석수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spc="-150">
                          <a:solidFill>
                            <a:srgbClr val="000000"/>
                          </a:solidFill>
                        </a:defRPr>
                      </a:pPr>
                      <a:r>
                        <a:t>출석률(%)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spc="-150">
                          <a:solidFill>
                            <a:srgbClr val="000000"/>
                          </a:solidFill>
                        </a:defRPr>
                      </a:pPr>
                      <a:r>
                        <a:t>7월말 </a:t>
                      </a:r>
                    </a:p>
                    <a:p>
                      <a:pPr algn="ctr">
                        <a:defRPr sz="1800" spc="-150">
                          <a:solidFill>
                            <a:srgbClr val="000000"/>
                          </a:solidFill>
                        </a:defRPr>
                      </a:pPr>
                      <a:r>
                        <a:t>총재적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spc="-150">
                          <a:solidFill>
                            <a:srgbClr val="000000"/>
                          </a:solidFill>
                        </a:defRPr>
                      </a:pPr>
                      <a:r>
                        <a:t>(1~7월)</a:t>
                      </a:r>
                    </a:p>
                    <a:p>
                      <a:pPr algn="ctr">
                        <a:defRPr sz="1800" spc="-150">
                          <a:solidFill>
                            <a:srgbClr val="000000"/>
                          </a:solidFill>
                        </a:defRPr>
                      </a:pPr>
                      <a:r>
                        <a:t>가개강 합계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spc="-150">
                          <a:solidFill>
                            <a:srgbClr val="000000"/>
                          </a:solidFill>
                        </a:defRPr>
                      </a:pPr>
                      <a:r>
                        <a:t>7월말 총재적 대비</a:t>
                      </a:r>
                      <a:r>
                        <a:rPr sz="1600"/>
                        <a:t> </a:t>
                      </a:r>
                    </a:p>
                    <a:p>
                      <a:pPr algn="ctr">
                        <a:defRPr sz="1800" spc="-150">
                          <a:solidFill>
                            <a:srgbClr val="000000"/>
                          </a:solidFill>
                        </a:defRPr>
                      </a:pPr>
                      <a:r>
                        <a:t>가개강률(%)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1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1" name="직사각형 3"/>
          <p:cNvSpPr txBox="1"/>
          <p:nvPr/>
        </p:nvSpPr>
        <p:spPr>
          <a:xfrm>
            <a:off x="69644" y="4665985"/>
            <a:ext cx="9588463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/>
            </a:pPr>
            <a:r>
              <a:rPr kumimoji="0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3. 전도 현황   </a:t>
            </a:r>
          </a:p>
        </p:txBody>
      </p:sp>
      <p:graphicFrame>
        <p:nvGraphicFramePr>
          <p:cNvPr id="112" name="표 11"/>
          <p:cNvGraphicFramePr/>
          <p:nvPr>
            <p:extLst>
              <p:ext uri="{D42A27DB-BD31-4B8C-83A1-F6EECF244321}">
                <p14:modId xmlns:p14="http://schemas.microsoft.com/office/powerpoint/2010/main" val="1612749582"/>
              </p:ext>
            </p:extLst>
          </p:nvPr>
        </p:nvGraphicFramePr>
        <p:xfrm>
          <a:off x="479311" y="5177356"/>
          <a:ext cx="11361591" cy="1508773"/>
        </p:xfrm>
        <a:graphic>
          <a:graphicData uri="http://schemas.openxmlformats.org/drawingml/2006/table">
            <a:tbl>
              <a:tblPr bandRow="1"/>
              <a:tblGrid>
                <a:gridCol w="1409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7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76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84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84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3053">
                <a:tc rowSpan="2">
                  <a:txBody>
                    <a:bodyPr/>
                    <a:lstStyle/>
                    <a:p>
                      <a:pPr algn="ctr">
                        <a:defRPr sz="1800" b="1" spc="-150"/>
                      </a:pPr>
                      <a:r>
                        <a:t>전도 재적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  <a:p>
                      <a:pPr algn="ctr">
                        <a:defRPr sz="1800" b="1" spc="-150"/>
                      </a:pPr>
                      <a:r>
                        <a:t>(42년 12월)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8월 목표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8월 재적</a:t>
                      </a:r>
                    </a:p>
                    <a:p>
                      <a:pPr algn="ctr">
                        <a:defRPr sz="1800" b="1"/>
                      </a:pPr>
                      <a:r>
                        <a:t>성장률(%)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누적 재적</a:t>
                      </a:r>
                    </a:p>
                    <a:p>
                      <a:pPr algn="ctr">
                        <a:defRPr sz="1800" b="1"/>
                      </a:pPr>
                      <a:r>
                        <a:t>성장률(%)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05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/>
                        <a:t>가개강목표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3333FF"/>
                          </a:solidFill>
                        </a:defRPr>
                      </a:pPr>
                      <a:r>
                        <a:t>현재</a:t>
                      </a:r>
                    </a:p>
                    <a:p>
                      <a:pPr algn="ctr">
                        <a:defRPr sz="1800" b="1"/>
                      </a:pPr>
                      <a:r>
                        <a:t>복음방수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/>
                        <a:t>등록률 목표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/>
                        <a:t>종강률 목표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6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b="1"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5" name="말풍선: 사각형 14"/>
          <p:cNvGrpSpPr/>
          <p:nvPr/>
        </p:nvGrpSpPr>
        <p:grpSpPr>
          <a:xfrm>
            <a:off x="2355876" y="4653676"/>
            <a:ext cx="8557184" cy="534932"/>
            <a:chOff x="0" y="0"/>
            <a:chExt cx="8557183" cy="534931"/>
          </a:xfrm>
        </p:grpSpPr>
        <p:sp>
          <p:nvSpPr>
            <p:cNvPr id="113" name="도형"/>
            <p:cNvSpPr/>
            <p:nvPr/>
          </p:nvSpPr>
          <p:spPr>
            <a:xfrm>
              <a:off x="0" y="0"/>
              <a:ext cx="8557184" cy="5349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6828"/>
                  </a:lnTo>
                  <a:lnTo>
                    <a:pt x="9000" y="16828"/>
                  </a:lnTo>
                  <a:lnTo>
                    <a:pt x="2235" y="21600"/>
                  </a:lnTo>
                  <a:lnTo>
                    <a:pt x="3600" y="16828"/>
                  </a:lnTo>
                  <a:lnTo>
                    <a:pt x="0" y="16828"/>
                  </a:lnTo>
                  <a:lnTo>
                    <a:pt x="0" y="9816"/>
                  </a:lnTo>
                  <a:close/>
                </a:path>
              </a:pathLst>
            </a:custGeom>
            <a:solidFill>
              <a:srgbClr val="E2F0D9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1">
                  <a:solidFill>
                    <a:srgbClr val="3333FF"/>
                  </a:solidFill>
                </a:defRPr>
              </a:pP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endParaRPr>
            </a:p>
          </p:txBody>
        </p:sp>
        <p:sp>
          <p:nvSpPr>
            <p:cNvPr id="114" name="가개강수 산출 근거 : 신43년 계획보고서"/>
            <p:cNvSpPr txBox="1"/>
            <p:nvPr/>
          </p:nvSpPr>
          <p:spPr>
            <a:xfrm>
              <a:off x="52069" y="48483"/>
              <a:ext cx="8453045" cy="31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1">
                  <a:solidFill>
                    <a:srgbClr val="3333FF"/>
                  </a:solidFill>
                </a:defRPr>
              </a:pPr>
              <a:r>
                <a:rPr kumimoji="0" sz="1400" b="1" i="0" u="none" strike="noStrike" kern="0" cap="none" spc="0" normalizeH="0" baseline="0" noProof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맑은 고딕"/>
                  <a:ea typeface="맑은 고딕"/>
                  <a:sym typeface="맑은 고딕"/>
                </a:rPr>
                <a:t>가개강수 산출 근거 : 신43년 계획보고서</a:t>
              </a:r>
            </a:p>
          </p:txBody>
        </p:sp>
      </p:grpSp>
      <p:sp>
        <p:nvSpPr>
          <p:cNvPr id="116" name="직사각형 15"/>
          <p:cNvSpPr txBox="1"/>
          <p:nvPr/>
        </p:nvSpPr>
        <p:spPr>
          <a:xfrm>
            <a:off x="69643" y="2995368"/>
            <a:ext cx="9711514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/>
            </a:pPr>
            <a:r>
              <a:rPr kumimoji="0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2. 선교센터 현황</a:t>
            </a:r>
          </a:p>
        </p:txBody>
      </p:sp>
      <p:sp>
        <p:nvSpPr>
          <p:cNvPr id="117" name="직사각형 13"/>
          <p:cNvSpPr txBox="1"/>
          <p:nvPr/>
        </p:nvSpPr>
        <p:spPr>
          <a:xfrm>
            <a:off x="59887" y="111342"/>
            <a:ext cx="420403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360947" marR="0" lvl="0" indent="-360947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■"/>
              <a:tabLst/>
              <a:defRPr sz="3600" b="1"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OO</a:t>
            </a:r>
            <a:r>
              <a:rPr kumimoji="0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교회</a:t>
            </a:r>
            <a:r>
              <a:rPr kumimoji="0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 </a:t>
            </a:r>
            <a:r>
              <a:rPr kumimoji="0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주간보고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sym typeface="맑은 고딕"/>
            </a:endParaRPr>
          </a:p>
        </p:txBody>
      </p:sp>
      <p:pic>
        <p:nvPicPr>
          <p:cNvPr id="118" name="Picture 14" descr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447" y="72482"/>
            <a:ext cx="712430" cy="71243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TextBox 17"/>
          <p:cNvSpPr txBox="1"/>
          <p:nvPr/>
        </p:nvSpPr>
        <p:spPr>
          <a:xfrm>
            <a:off x="8624143" y="-79138"/>
            <a:ext cx="2696584" cy="1059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latin typeface="HY견명조"/>
                <a:ea typeface="HY견명조"/>
                <a:cs typeface="HY견명조"/>
                <a:sym typeface="HY견명조"/>
              </a:defRPr>
            </a:pPr>
            <a:r>
              <a:rPr kumimoji="0" sz="3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견명조"/>
                <a:ea typeface="HY견명조"/>
                <a:sym typeface="HY견명조"/>
              </a:rPr>
              <a:t>新天記 43 年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latin typeface="HY견명조"/>
                <a:ea typeface="HY견명조"/>
                <a:cs typeface="HY견명조"/>
                <a:sym typeface="HY견명조"/>
              </a:defRPr>
            </a:pPr>
            <a:r>
              <a:rPr kumimoji="0" sz="3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견명조"/>
                <a:ea typeface="HY견명조"/>
                <a:sym typeface="HY견명조"/>
              </a:rPr>
              <a:t>사명완수의 해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직사각형 5"/>
          <p:cNvSpPr txBox="1"/>
          <p:nvPr/>
        </p:nvSpPr>
        <p:spPr>
          <a:xfrm>
            <a:off x="34356" y="1014385"/>
            <a:ext cx="9711514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/>
            </a:pPr>
            <a:r>
              <a:rPr kumimoji="0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4. 주간 교육 현황</a:t>
            </a:r>
          </a:p>
        </p:txBody>
      </p:sp>
      <p:graphicFrame>
        <p:nvGraphicFramePr>
          <p:cNvPr id="122" name="표 15"/>
          <p:cNvGraphicFramePr/>
          <p:nvPr>
            <p:extLst>
              <p:ext uri="{D42A27DB-BD31-4B8C-83A1-F6EECF244321}">
                <p14:modId xmlns:p14="http://schemas.microsoft.com/office/powerpoint/2010/main" val="3721351221"/>
              </p:ext>
            </p:extLst>
          </p:nvPr>
        </p:nvGraphicFramePr>
        <p:xfrm>
          <a:off x="479309" y="1526737"/>
          <a:ext cx="11349832" cy="1463040"/>
        </p:xfrm>
        <a:graphic>
          <a:graphicData uri="http://schemas.openxmlformats.org/drawingml/2006/table">
            <a:tbl>
              <a:tblPr firstRow="1"/>
              <a:tblGrid>
                <a:gridCol w="20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7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8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682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spc="-150"/>
                        <a:t>교육 일 시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spc="-150"/>
                        <a:t>교육자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spc="-150"/>
                        <a:t>교육 내용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spc="-150"/>
                        <a:t>대상자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 spc="-150"/>
                        <a:t>참여수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8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58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58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3" name="직사각형 16"/>
          <p:cNvSpPr txBox="1"/>
          <p:nvPr/>
        </p:nvSpPr>
        <p:spPr>
          <a:xfrm>
            <a:off x="45719" y="3521057"/>
            <a:ext cx="9711514" cy="54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/>
            </a:pPr>
            <a:r>
              <a:rPr kumimoji="0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5. 주간 특이사항</a:t>
            </a:r>
          </a:p>
        </p:txBody>
      </p:sp>
      <p:graphicFrame>
        <p:nvGraphicFramePr>
          <p:cNvPr id="124" name="표 19"/>
          <p:cNvGraphicFramePr/>
          <p:nvPr>
            <p:extLst>
              <p:ext uri="{D42A27DB-BD31-4B8C-83A1-F6EECF244321}">
                <p14:modId xmlns:p14="http://schemas.microsoft.com/office/powerpoint/2010/main" val="1479959678"/>
              </p:ext>
            </p:extLst>
          </p:nvPr>
        </p:nvGraphicFramePr>
        <p:xfrm>
          <a:off x="479309" y="4031612"/>
          <a:ext cx="11349832" cy="2674949"/>
        </p:xfrm>
        <a:graphic>
          <a:graphicData uri="http://schemas.openxmlformats.org/drawingml/2006/table">
            <a:tbl>
              <a:tblPr/>
              <a:tblGrid>
                <a:gridCol w="2837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8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8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546">
                <a:tc row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pc="-150"/>
                        <a:t>특별전도기간 단합 산행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pc="-150"/>
                        <a:t>전도단 모임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pc="-150"/>
                        <a:t>전도활동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800" b="1" spc="-150"/>
                      </a:pPr>
                      <a:r>
                        <a:t>현안 관련 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5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spc="-150"/>
                      </a:pPr>
                      <a:r>
                        <a:t>언론보도 </a:t>
                      </a:r>
                    </a:p>
                    <a:p>
                      <a:pPr algn="ctr">
                        <a:defRPr sz="1800" spc="-150"/>
                      </a:pPr>
                      <a:r>
                        <a:t>(누적 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spc="-150"/>
                      </a:pPr>
                      <a:r>
                        <a:t>탄원서</a:t>
                      </a:r>
                    </a:p>
                    <a:p>
                      <a:pPr algn="ctr">
                        <a:defRPr sz="1800" spc="-150"/>
                      </a:pPr>
                      <a:r>
                        <a:t>(누적)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04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주간 교육, 전도활동, </a:t>
                      </a:r>
                    </a:p>
                    <a:p>
                      <a:pPr algn="ctr">
                        <a:defRPr sz="1800"/>
                      </a:pPr>
                      <a:r>
                        <a:t>심방, 행사, MOU활동 등 </a:t>
                      </a:r>
                    </a:p>
                    <a:p>
                      <a:pPr algn="ctr">
                        <a:defRPr sz="1800"/>
                      </a:pPr>
                      <a:r>
                        <a:t>활동 사진 첨부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주간 교육, 전도활동, </a:t>
                      </a:r>
                    </a:p>
                    <a:p>
                      <a:pPr algn="ctr">
                        <a:defRPr sz="1800"/>
                      </a:pPr>
                      <a:r>
                        <a:t>심방, 행사, MOU활동 등 </a:t>
                      </a:r>
                    </a:p>
                    <a:p>
                      <a:pPr algn="ctr">
                        <a:defRPr sz="1800"/>
                      </a:pPr>
                      <a:r>
                        <a:t>활동 사진 첨부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주간 교육, 전도활동, </a:t>
                      </a:r>
                    </a:p>
                    <a:p>
                      <a:pPr algn="ctr">
                        <a:defRPr sz="1800"/>
                      </a:pPr>
                      <a:r>
                        <a:t>심방, 행사, MOU활동 등 </a:t>
                      </a:r>
                    </a:p>
                    <a:p>
                      <a:pPr algn="ctr">
                        <a:defRPr sz="1800"/>
                      </a:pPr>
                      <a:r>
                        <a:t>활동 사진 첨부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dirty="0"/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5" name="직사각형 11"/>
          <p:cNvSpPr txBox="1"/>
          <p:nvPr/>
        </p:nvSpPr>
        <p:spPr>
          <a:xfrm>
            <a:off x="59887" y="111342"/>
            <a:ext cx="436593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/>
            </a:pPr>
            <a:r>
              <a:rPr kumimoji="0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■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OO</a:t>
            </a:r>
            <a:r>
              <a:rPr kumimoji="0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교회</a:t>
            </a:r>
            <a:r>
              <a:rPr kumimoji="0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 </a:t>
            </a:r>
            <a:r>
              <a:rPr kumimoji="0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sym typeface="맑은 고딕"/>
              </a:rPr>
              <a:t>주간보고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sym typeface="맑은 고딕"/>
            </a:endParaRPr>
          </a:p>
        </p:txBody>
      </p:sp>
      <p:pic>
        <p:nvPicPr>
          <p:cNvPr id="126" name="Picture 14" descr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447" y="72482"/>
            <a:ext cx="712430" cy="712430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extBox 10"/>
          <p:cNvSpPr txBox="1"/>
          <p:nvPr/>
        </p:nvSpPr>
        <p:spPr>
          <a:xfrm>
            <a:off x="8624143" y="-79138"/>
            <a:ext cx="2696584" cy="1059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latin typeface="HY견명조"/>
                <a:ea typeface="HY견명조"/>
                <a:cs typeface="HY견명조"/>
                <a:sym typeface="HY견명조"/>
              </a:defRPr>
            </a:pPr>
            <a:r>
              <a:rPr kumimoji="0" sz="3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견명조"/>
                <a:ea typeface="HY견명조"/>
                <a:sym typeface="HY견명조"/>
              </a:rPr>
              <a:t>新天記 43 年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latin typeface="HY견명조"/>
                <a:ea typeface="HY견명조"/>
                <a:cs typeface="HY견명조"/>
                <a:sym typeface="HY견명조"/>
              </a:defRPr>
            </a:pPr>
            <a:r>
              <a:rPr kumimoji="0" sz="3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견명조"/>
                <a:ea typeface="HY견명조"/>
                <a:sym typeface="HY견명조"/>
              </a:rPr>
              <a:t>사명완수의 해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198</Words>
  <Application>Microsoft Office PowerPoint</Application>
  <PresentationFormat>와이드스크린</PresentationFormat>
  <Paragraphs>76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a타이틀고딕3</vt:lpstr>
      <vt:lpstr>HY견명조</vt:lpstr>
      <vt:lpstr>Produkt Light</vt:lpstr>
      <vt:lpstr>맑은 고딕</vt:lpstr>
      <vt:lpstr>Arial</vt:lpstr>
      <vt:lpstr>Helvetica</vt:lpstr>
      <vt:lpstr>Office 테마</vt:lpstr>
      <vt:lpstr>1_Office 테마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해외 교회(지역) 현황</dc:title>
  <dc:creator>부 두</dc:creator>
  <cp:lastModifiedBy>김동현</cp:lastModifiedBy>
  <cp:revision>568</cp:revision>
  <dcterms:created xsi:type="dcterms:W3CDTF">2024-01-04T08:56:43Z</dcterms:created>
  <dcterms:modified xsi:type="dcterms:W3CDTF">2026-08-09T11:45:05Z</dcterms:modified>
  <cp:version/>
</cp:coreProperties>
</file>