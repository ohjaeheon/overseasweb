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783" r:id="rId2"/>
  </p:sldMasterIdLst>
  <p:notesMasterIdLst>
    <p:notesMasterId r:id="rId7"/>
  </p:notesMasterIdLst>
  <p:handoutMasterIdLst>
    <p:handoutMasterId r:id="rId8"/>
  </p:handoutMasterIdLst>
  <p:sldIdLst>
    <p:sldId id="817" r:id="rId3"/>
    <p:sldId id="1104" r:id="rId4"/>
    <p:sldId id="1153" r:id="rId5"/>
    <p:sldId id="1154" r:id="rId13"/>
    <p:sldId id="1155" r:id="rId14"/>
    <p:sldId id="1156" r:id="rId15"/>
    <p:sldId id="1157" r:id="rId16"/>
    <p:sldId id="1158" r:id="rId17"/>
    <p:sldId id="1159" r:id="rId18"/>
    <p:sldId id="1160" r:id="rId19"/>
    <p:sldId id="1161" r:id="rId20"/>
    <p:sldId id="1162" r:id="rId21"/>
    <p:sldId id="1163" r:id="rId22"/>
    <p:sldId id="1164" r:id="rId23"/>
    <p:sldId id="1165" r:id="rId24"/>
  </p:sldIdLst>
  <p:sldSz cx="9144000" cy="5143500" type="screen16x9"/>
  <p:notesSz cx="6802438" cy="9934575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B8AF991-A938-45BD-AC4A-DC1175F1134D}">
          <p14:sldIdLst>
            <p14:sldId id="817"/>
            <p14:sldId id="1104"/>
            <p14:sldId id="1153"/>
          </p14:sldIdLst>
        </p14:section>
        <p14:section name="Alert/Confim 정의" id="{04AE9F15-F3B9-4C58-8335-9D0A3D170A1B}">
          <p14:sldIdLst>
            <p14:sldId id="11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90" userDrawn="1">
          <p15:clr>
            <a:srgbClr val="A4A3A4"/>
          </p15:clr>
        </p15:guide>
        <p15:guide id="2" pos="116" userDrawn="1">
          <p15:clr>
            <a:srgbClr val="A4A3A4"/>
          </p15:clr>
        </p15:guide>
        <p15:guide id="3" pos="4617" userDrawn="1">
          <p15:clr>
            <a:srgbClr val="A4A3A4"/>
          </p15:clr>
        </p15:guide>
        <p15:guide id="4" orient="horz" pos="2573" userDrawn="1">
          <p15:clr>
            <a:srgbClr val="A4A3A4"/>
          </p15:clr>
        </p15:guide>
        <p15:guide id="5" orient="horz" pos="2624" userDrawn="1">
          <p15:clr>
            <a:srgbClr val="A4A3A4"/>
          </p15:clr>
        </p15:guide>
        <p15:guide id="6" orient="horz" pos="2726" userDrawn="1">
          <p15:clr>
            <a:srgbClr val="A4A3A4"/>
          </p15:clr>
        </p15:guide>
        <p15:guide id="7" orient="horz" pos="599" userDrawn="1">
          <p15:clr>
            <a:srgbClr val="A4A3A4"/>
          </p15:clr>
        </p15:guide>
        <p15:guide id="8" orient="horz" pos="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F3F3F3"/>
    <a:srgbClr val="F2F2F2"/>
    <a:srgbClr val="595959"/>
    <a:srgbClr val="0033CC"/>
    <a:srgbClr val="DEEBF7"/>
    <a:srgbClr val="D67A00"/>
    <a:srgbClr val="C82135"/>
    <a:srgbClr val="326091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87" autoAdjust="0"/>
    <p:restoredTop sz="95519" autoAdjust="0"/>
  </p:normalViewPr>
  <p:slideViewPr>
    <p:cSldViewPr snapToObjects="1" showGuides="1">
      <p:cViewPr varScale="1">
        <p:scale>
          <a:sx n="167" d="100"/>
          <a:sy n="167" d="100"/>
        </p:scale>
        <p:origin x="168" y="240"/>
      </p:cViewPr>
      <p:guideLst>
        <p:guide orient="horz" pos="1790"/>
        <p:guide pos="116"/>
        <p:guide pos="4617"/>
        <p:guide orient="horz" pos="2573"/>
        <p:guide orient="horz" pos="2624"/>
        <p:guide orient="horz" pos="2726"/>
        <p:guide orient="horz" pos="599"/>
        <p:guide orient="horz" pos="7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40200"/>
    </p:cViewPr>
  </p:sorterViewPr>
  <p:notesViewPr>
    <p:cSldViewPr snapToObjects="1" showGuides="1">
      <p:cViewPr varScale="1">
        <p:scale>
          <a:sx n="64" d="100"/>
          <a:sy n="64" d="100"/>
        </p:scale>
        <p:origin x="3202" y="67"/>
      </p:cViewPr>
      <p:guideLst>
        <p:guide orient="horz" pos="3129"/>
        <p:guide pos="2143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512" cy="496650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3341" y="0"/>
            <a:ext cx="2947512" cy="496650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r">
              <a:defRPr sz="1200"/>
            </a:lvl1pPr>
          </a:lstStyle>
          <a:p>
            <a:fld id="{FFB5FEFA-8FE1-420F-9C68-457DE2F198DF}" type="datetimeFigureOut">
              <a:rPr lang="ko-KR" altLang="en-US" smtClean="0"/>
              <a:t>2026. 3. 8.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339"/>
            <a:ext cx="2947512" cy="496649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3341" y="9436339"/>
            <a:ext cx="2947512" cy="496649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r">
              <a:defRPr sz="1200"/>
            </a:lvl1pPr>
          </a:lstStyle>
          <a:p>
            <a:fld id="{D1AA843A-FD8F-4B8D-A2C2-18C908763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341" y="1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r">
              <a:defRPr sz="1200"/>
            </a:lvl1pPr>
          </a:lstStyle>
          <a:p>
            <a:fld id="{7EF10E69-70DD-4E85-8D2E-79CD6095485E}" type="datetimeFigureOut">
              <a:rPr lang="ko-KR" altLang="en-US" smtClean="0"/>
              <a:t>2026. 3. 8.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57888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5" tIns="45693" rIns="91385" bIns="456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0846"/>
            <a:ext cx="5441316" cy="3911312"/>
          </a:xfrm>
          <a:prstGeom prst="rect">
            <a:avLst/>
          </a:prstGeom>
        </p:spPr>
        <p:txBody>
          <a:bodyPr vert="horz" lIns="91385" tIns="45693" rIns="91385" bIns="4569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339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341" y="9436339"/>
            <a:ext cx="2947512" cy="498236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r">
              <a:defRPr sz="1200"/>
            </a:lvl1pPr>
          </a:lstStyle>
          <a:p>
            <a:fld id="{451FF4E4-152F-4879-AFAE-892FD21A5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67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FF4E4-152F-4879-AFAE-892FD21A5D0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2821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/>
          <p:cNvSpPr>
            <a:spLocks noChangeArrowheads="1"/>
          </p:cNvSpPr>
          <p:nvPr userDrawn="1"/>
        </p:nvSpPr>
        <p:spPr bwMode="auto">
          <a:xfrm>
            <a:off x="87924" y="539355"/>
            <a:ext cx="8972551" cy="453151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483" tIns="38741" rIns="77483" bIns="38741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1661">
              <a:solidFill>
                <a:srgbClr val="000000"/>
              </a:solidFill>
              <a:latin typeface="Arial" charset="0"/>
              <a:ea typeface="맑은 고딕" pitchFamily="50" charset="-127"/>
              <a:cs typeface="Arial" charset="0"/>
            </a:endParaRPr>
          </a:p>
        </p:txBody>
      </p:sp>
      <p:graphicFrame>
        <p:nvGraphicFramePr>
          <p:cNvPr id="6" name="Group 7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0982223"/>
              </p:ext>
            </p:extLst>
          </p:nvPr>
        </p:nvGraphicFramePr>
        <p:xfrm>
          <a:off x="87923" y="71439"/>
          <a:ext cx="8968155" cy="429816"/>
        </p:xfrm>
        <a:graphic>
          <a:graphicData uri="http://schemas.openxmlformats.org/drawingml/2006/table">
            <a:tbl>
              <a:tblPr/>
              <a:tblGrid>
                <a:gridCol w="102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55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화면번호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대량메일발송 구축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이세라</a:t>
                      </a: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작성일 </a:t>
                      </a:r>
                      <a:r>
                        <a:rPr kumimoji="1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/ </a:t>
                      </a: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F6B7D845-F16D-4612-8D81-9223182F7DF8}" type="datetime2">
                        <a:rPr kumimoji="1" lang="ko-KR" altLang="en-US" sz="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2026년 March 8일 일요일</a:t>
                      </a:fld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32"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48529" marR="48529" marT="23757" marB="23757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승인일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41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/>
          <p:cNvSpPr>
            <a:spLocks noChangeArrowheads="1"/>
          </p:cNvSpPr>
          <p:nvPr userDrawn="1"/>
        </p:nvSpPr>
        <p:spPr bwMode="auto">
          <a:xfrm>
            <a:off x="87924" y="539355"/>
            <a:ext cx="8972551" cy="453151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483" tIns="38741" rIns="77483" bIns="38741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1661">
              <a:solidFill>
                <a:srgbClr val="000000"/>
              </a:solidFill>
              <a:latin typeface="Arial" charset="0"/>
              <a:ea typeface="맑은 고딕" pitchFamily="50" charset="-127"/>
              <a:cs typeface="Arial" charset="0"/>
            </a:endParaRPr>
          </a:p>
        </p:txBody>
      </p:sp>
      <p:graphicFrame>
        <p:nvGraphicFramePr>
          <p:cNvPr id="6" name="Group 7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00405875"/>
              </p:ext>
            </p:extLst>
          </p:nvPr>
        </p:nvGraphicFramePr>
        <p:xfrm>
          <a:off x="87924" y="71439"/>
          <a:ext cx="8968155" cy="429816"/>
        </p:xfrm>
        <a:graphic>
          <a:graphicData uri="http://schemas.openxmlformats.org/drawingml/2006/table">
            <a:tbl>
              <a:tblPr/>
              <a:tblGrid>
                <a:gridCol w="102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55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화면번호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대량메일발송 구축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이세라</a:t>
                      </a: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작성일 </a:t>
                      </a:r>
                      <a:r>
                        <a:rPr kumimoji="1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/ </a:t>
                      </a: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2766D422-BF7A-48C2-A1CF-1F63B0DF65F1}" type="datetime2">
                        <a:rPr kumimoji="1" lang="ko-KR" altLang="en-US" sz="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2026년 March 8일 일요일</a:t>
                      </a:fld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32"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48529" marR="48529" marT="23757" marB="23757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승인일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9"/>
          <p:cNvSpPr>
            <a:spLocks noChangeArrowheads="1"/>
          </p:cNvSpPr>
          <p:nvPr userDrawn="1"/>
        </p:nvSpPr>
        <p:spPr bwMode="auto">
          <a:xfrm>
            <a:off x="7458809" y="539355"/>
            <a:ext cx="1597269" cy="453151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483" tIns="38741" rIns="77483" bIns="38741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1661">
              <a:solidFill>
                <a:srgbClr val="000000"/>
              </a:solidFill>
              <a:latin typeface="Arial" charset="0"/>
              <a:ea typeface="맑은 고딕" pitchFamily="50" charset="-127"/>
              <a:cs typeface="Arial" charset="0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51816" y="816555"/>
            <a:ext cx="721187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152401" y="600076"/>
            <a:ext cx="6380285" cy="216694"/>
          </a:xfrm>
          <a:prstGeom prst="rect">
            <a:avLst/>
          </a:prstGeom>
        </p:spPr>
        <p:txBody>
          <a:bodyPr anchor="ctr"/>
          <a:lstStyle>
            <a:lvl1pPr>
              <a:defRPr sz="1108"/>
            </a:lvl1pPr>
            <a:lvl2pPr>
              <a:defRPr sz="1108"/>
            </a:lvl2pPr>
            <a:lvl3pPr>
              <a:defRPr sz="1108"/>
            </a:lvl3pPr>
            <a:lvl4pPr>
              <a:defRPr sz="1108"/>
            </a:lvl4pPr>
            <a:lvl5pPr>
              <a:defRPr sz="1108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76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/>
          <p:cNvSpPr>
            <a:spLocks noChangeArrowheads="1"/>
          </p:cNvSpPr>
          <p:nvPr userDrawn="1"/>
        </p:nvSpPr>
        <p:spPr bwMode="auto">
          <a:xfrm>
            <a:off x="87924" y="539355"/>
            <a:ext cx="8972551" cy="453151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483" tIns="38741" rIns="77483" bIns="38741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1661">
              <a:solidFill>
                <a:srgbClr val="000000"/>
              </a:solidFill>
              <a:latin typeface="Arial" charset="0"/>
              <a:ea typeface="맑은 고딕" pitchFamily="50" charset="-127"/>
              <a:cs typeface="Arial" charset="0"/>
            </a:endParaRPr>
          </a:p>
        </p:txBody>
      </p:sp>
      <p:graphicFrame>
        <p:nvGraphicFramePr>
          <p:cNvPr id="6" name="Group 7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73919304"/>
              </p:ext>
            </p:extLst>
          </p:nvPr>
        </p:nvGraphicFramePr>
        <p:xfrm>
          <a:off x="87923" y="71439"/>
          <a:ext cx="8968155" cy="429816"/>
        </p:xfrm>
        <a:graphic>
          <a:graphicData uri="http://schemas.openxmlformats.org/drawingml/2006/table">
            <a:tbl>
              <a:tblPr/>
              <a:tblGrid>
                <a:gridCol w="1024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4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255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화면번호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대량메일발송 구축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이세라</a:t>
                      </a: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6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작성일 </a:t>
                      </a:r>
                      <a:r>
                        <a:rPr kumimoji="1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/ </a:t>
                      </a: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2766D422-BF7A-48C2-A1CF-1F63B0DF65F1}" type="datetime2">
                        <a:rPr kumimoji="1" lang="ko-KR" altLang="en-US" sz="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2026년 March 8일 일요일</a:t>
                      </a:fld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32"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돋움" pitchFamily="50" charset="-127"/>
                        <a:cs typeface="Arial" pitchFamily="34" charset="0"/>
                      </a:endParaRPr>
                    </a:p>
                  </a:txBody>
                  <a:tcPr marL="48529" marR="48529" marT="23757" marB="23757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승인일</a:t>
                      </a:r>
                      <a:endParaRPr kumimoji="1" lang="ko-KR" altLang="en-US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46176" marR="46176" marT="17143" marB="17143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9"/>
          <p:cNvSpPr>
            <a:spLocks noChangeArrowheads="1"/>
          </p:cNvSpPr>
          <p:nvPr userDrawn="1"/>
        </p:nvSpPr>
        <p:spPr bwMode="auto">
          <a:xfrm>
            <a:off x="7458809" y="539355"/>
            <a:ext cx="1597269" cy="453151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483" tIns="38741" rIns="77483" bIns="38741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kumimoji="0" lang="ko-KR" altLang="en-US" sz="1661">
              <a:solidFill>
                <a:srgbClr val="000000"/>
              </a:solidFill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99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84639" y="141480"/>
            <a:ext cx="5483675" cy="216024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marL="263776" indent="-263776">
              <a:buFont typeface="Arial" panose="020B0604020202020204" pitchFamily="34" charset="0"/>
              <a:buChar char="•"/>
              <a:defRPr sz="1477" b="1" spc="-65" baseline="0"/>
            </a:lvl1pPr>
            <a:lvl2pPr>
              <a:defRPr sz="2585" b="1"/>
            </a:lvl2pPr>
            <a:lvl3pPr>
              <a:defRPr sz="2585" b="1"/>
            </a:lvl3pPr>
            <a:lvl4pPr>
              <a:defRPr sz="2585" b="1"/>
            </a:lvl4pPr>
            <a:lvl5pPr>
              <a:defRPr sz="2585" b="1"/>
            </a:lvl5pPr>
          </a:lstStyle>
          <a:p>
            <a:pPr lvl="0"/>
            <a:r>
              <a:rPr lang="ko-KR" altLang="en-US"/>
              <a:t>분류명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84639" y="411510"/>
            <a:ext cx="877472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873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4" userDrawn="1">
          <p15:clr>
            <a:srgbClr val="FBAE40"/>
          </p15:clr>
        </p15:guide>
        <p15:guide id="2" pos="116" userDrawn="1">
          <p15:clr>
            <a:srgbClr val="FBAE40"/>
          </p15:clr>
        </p15:guide>
        <p15:guide id="3" pos="56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83503" y="1408339"/>
            <a:ext cx="4507265" cy="353321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l">
              <a:defRPr sz="2954" b="1" spc="-47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</a:t>
            </a:r>
          </a:p>
        </p:txBody>
      </p:sp>
      <p:cxnSp>
        <p:nvCxnSpPr>
          <p:cNvPr id="14" name="직선 연결선 9"/>
          <p:cNvCxnSpPr>
            <a:cxnSpLocks noChangeShapeType="1"/>
          </p:cNvCxnSpPr>
          <p:nvPr userDrawn="1"/>
        </p:nvCxnSpPr>
        <p:spPr bwMode="auto">
          <a:xfrm>
            <a:off x="479228" y="1408340"/>
            <a:ext cx="0" cy="596348"/>
          </a:xfrm>
          <a:prstGeom prst="lin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</p:spPr>
      </p:cxnSp>
      <p:sp>
        <p:nvSpPr>
          <p:cNvPr id="4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683568" y="1796904"/>
            <a:ext cx="4507215" cy="207784"/>
          </a:xfrm>
          <a:prstGeom prst="rect">
            <a:avLst/>
          </a:prstGeom>
        </p:spPr>
        <p:txBody>
          <a:bodyPr wrap="none" lIns="0" anchor="ctr" anchorCtr="0"/>
          <a:lstStyle>
            <a:lvl1pPr marL="0" indent="0">
              <a:buNone/>
              <a:defRPr sz="1847" b="1" spc="-47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108"/>
            </a:lvl2pPr>
            <a:lvl3pPr>
              <a:defRPr sz="1108"/>
            </a:lvl3pPr>
            <a:lvl4pPr>
              <a:defRPr sz="1108"/>
            </a:lvl4pPr>
            <a:lvl5pPr>
              <a:defRPr sz="1108"/>
            </a:lvl5pPr>
          </a:lstStyle>
          <a:p>
            <a:pPr lvl="0"/>
            <a:r>
              <a:rPr lang="ko-KR" altLang="en-US" dirty="0"/>
              <a:t>서브 제목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3498" y="1275606"/>
            <a:ext cx="5770226" cy="891099"/>
            <a:chOff x="502123" y="1700808"/>
            <a:chExt cx="5134954" cy="1188132"/>
          </a:xfrm>
        </p:grpSpPr>
        <p:sp>
          <p:nvSpPr>
            <p:cNvPr id="15" name="Line 2"/>
            <p:cNvSpPr>
              <a:spLocks noChangeShapeType="1"/>
            </p:cNvSpPr>
            <p:nvPr userDrawn="1"/>
          </p:nvSpPr>
          <p:spPr bwMode="auto">
            <a:xfrm>
              <a:off x="502123" y="1700808"/>
              <a:ext cx="5134954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  <p:sp>
          <p:nvSpPr>
            <p:cNvPr id="16" name="Line 5"/>
            <p:cNvSpPr>
              <a:spLocks noChangeShapeType="1"/>
            </p:cNvSpPr>
            <p:nvPr userDrawn="1"/>
          </p:nvSpPr>
          <p:spPr bwMode="auto">
            <a:xfrm>
              <a:off x="502125" y="2888940"/>
              <a:ext cx="5121206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</p:grpSp>
      <p:cxnSp>
        <p:nvCxnSpPr>
          <p:cNvPr id="10" name="직선 연결선 9"/>
          <p:cNvCxnSpPr/>
          <p:nvPr userDrawn="1"/>
        </p:nvCxnSpPr>
        <p:spPr>
          <a:xfrm>
            <a:off x="85349" y="4758993"/>
            <a:ext cx="897366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2"/>
          <p:cNvSpPr txBox="1"/>
          <p:nvPr userDrawn="1"/>
        </p:nvSpPr>
        <p:spPr>
          <a:xfrm>
            <a:off x="1377430" y="4867006"/>
            <a:ext cx="3695884" cy="20954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고객사 및 개발사의 사전 승인 없이 본 내용의 전부 또는 일부에 대한 복사</a:t>
            </a:r>
            <a:r>
              <a:rPr lang="en-US" altLang="ko-KR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전재</a:t>
            </a:r>
            <a:r>
              <a:rPr lang="en-US" altLang="ko-KR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배포</a:t>
            </a:r>
            <a:r>
              <a:rPr lang="en-US" altLang="ko-KR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사용을 금합니다</a:t>
            </a:r>
            <a:r>
              <a:rPr lang="en-US" altLang="ko-KR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681" spc="-43" baseline="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681" spc="-43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©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89950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0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85864" y="2096915"/>
            <a:ext cx="4507265" cy="353321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l">
              <a:defRPr sz="2954" b="1" spc="-47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</a:t>
            </a:r>
          </a:p>
        </p:txBody>
      </p:sp>
      <p:cxnSp>
        <p:nvCxnSpPr>
          <p:cNvPr id="14" name="직선 연결선 9"/>
          <p:cNvCxnSpPr>
            <a:cxnSpLocks noChangeShapeType="1"/>
          </p:cNvCxnSpPr>
          <p:nvPr userDrawn="1"/>
        </p:nvCxnSpPr>
        <p:spPr bwMode="auto">
          <a:xfrm>
            <a:off x="479228" y="1975403"/>
            <a:ext cx="0" cy="596348"/>
          </a:xfrm>
          <a:prstGeom prst="lin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</p:spPr>
      </p:cxnSp>
      <p:grpSp>
        <p:nvGrpSpPr>
          <p:cNvPr id="2" name="그룹 1"/>
          <p:cNvGrpSpPr/>
          <p:nvPr userDrawn="1"/>
        </p:nvGrpSpPr>
        <p:grpSpPr>
          <a:xfrm>
            <a:off x="463498" y="1842669"/>
            <a:ext cx="5770226" cy="891099"/>
            <a:chOff x="502123" y="1700808"/>
            <a:chExt cx="5134954" cy="1188132"/>
          </a:xfrm>
        </p:grpSpPr>
        <p:sp>
          <p:nvSpPr>
            <p:cNvPr id="15" name="Line 2"/>
            <p:cNvSpPr>
              <a:spLocks noChangeShapeType="1"/>
            </p:cNvSpPr>
            <p:nvPr userDrawn="1"/>
          </p:nvSpPr>
          <p:spPr bwMode="auto">
            <a:xfrm>
              <a:off x="502123" y="1700808"/>
              <a:ext cx="5134954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  <p:sp>
          <p:nvSpPr>
            <p:cNvPr id="16" name="Line 5"/>
            <p:cNvSpPr>
              <a:spLocks noChangeShapeType="1"/>
            </p:cNvSpPr>
            <p:nvPr userDrawn="1"/>
          </p:nvSpPr>
          <p:spPr bwMode="auto">
            <a:xfrm>
              <a:off x="502125" y="2888940"/>
              <a:ext cx="5121206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</p:grpSp>
    </p:spTree>
    <p:extLst>
      <p:ext uri="{BB962C8B-B14F-4D97-AF65-F5344CB8AC3E}">
        <p14:creationId xmlns:p14="http://schemas.microsoft.com/office/powerpoint/2010/main" val="631854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0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AB200B-AF4F-EA32-85F4-722DF73E2569}"/>
              </a:ext>
            </a:extLst>
          </p:cNvPr>
          <p:cNvSpPr/>
          <p:nvPr userDrawn="1"/>
        </p:nvSpPr>
        <p:spPr>
          <a:xfrm>
            <a:off x="0" y="4758993"/>
            <a:ext cx="9144000" cy="396571"/>
          </a:xfrm>
          <a:prstGeom prst="rect">
            <a:avLst/>
          </a:prstGeom>
          <a:solidFill>
            <a:srgbClr val="F3F3F3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83503" y="1408339"/>
            <a:ext cx="4507265" cy="353321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algn="l">
              <a:defRPr sz="2954" b="1" spc="-47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dirty="0"/>
              <a:t>마스터</a:t>
            </a:r>
          </a:p>
        </p:txBody>
      </p:sp>
      <p:cxnSp>
        <p:nvCxnSpPr>
          <p:cNvPr id="14" name="직선 연결선 9"/>
          <p:cNvCxnSpPr>
            <a:cxnSpLocks noChangeShapeType="1"/>
          </p:cNvCxnSpPr>
          <p:nvPr userDrawn="1"/>
        </p:nvCxnSpPr>
        <p:spPr bwMode="auto">
          <a:xfrm>
            <a:off x="479228" y="1408340"/>
            <a:ext cx="0" cy="596348"/>
          </a:xfrm>
          <a:prstGeom prst="lin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</p:spPr>
      </p:cxnSp>
      <p:sp>
        <p:nvSpPr>
          <p:cNvPr id="4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683568" y="1796904"/>
            <a:ext cx="4507215" cy="207784"/>
          </a:xfrm>
          <a:prstGeom prst="rect">
            <a:avLst/>
          </a:prstGeom>
        </p:spPr>
        <p:txBody>
          <a:bodyPr wrap="none" lIns="0" anchor="ctr" anchorCtr="0"/>
          <a:lstStyle>
            <a:lvl1pPr marL="0" indent="0">
              <a:buNone/>
              <a:defRPr sz="1847" b="1" spc="-47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108"/>
            </a:lvl2pPr>
            <a:lvl3pPr>
              <a:defRPr sz="1108"/>
            </a:lvl3pPr>
            <a:lvl4pPr>
              <a:defRPr sz="1108"/>
            </a:lvl4pPr>
            <a:lvl5pPr>
              <a:defRPr sz="1108"/>
            </a:lvl5pPr>
          </a:lstStyle>
          <a:p>
            <a:pPr lvl="0"/>
            <a:r>
              <a:rPr lang="ko-KR" altLang="en-US" dirty="0"/>
              <a:t>서브 제목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3498" y="1275606"/>
            <a:ext cx="5770226" cy="891099"/>
            <a:chOff x="502123" y="1700808"/>
            <a:chExt cx="5134954" cy="1188132"/>
          </a:xfrm>
        </p:grpSpPr>
        <p:sp>
          <p:nvSpPr>
            <p:cNvPr id="15" name="Line 2"/>
            <p:cNvSpPr>
              <a:spLocks noChangeShapeType="1"/>
            </p:cNvSpPr>
            <p:nvPr userDrawn="1"/>
          </p:nvSpPr>
          <p:spPr bwMode="auto">
            <a:xfrm>
              <a:off x="502123" y="1700808"/>
              <a:ext cx="5134954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  <p:sp>
          <p:nvSpPr>
            <p:cNvPr id="16" name="Line 5"/>
            <p:cNvSpPr>
              <a:spLocks noChangeShapeType="1"/>
            </p:cNvSpPr>
            <p:nvPr userDrawn="1"/>
          </p:nvSpPr>
          <p:spPr bwMode="auto">
            <a:xfrm>
              <a:off x="502125" y="2888940"/>
              <a:ext cx="5121206" cy="0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pPr>
                <a:defRPr/>
              </a:pPr>
              <a:endParaRPr lang="ko-KR" altLang="en-US" sz="1661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CE95834-4C93-00B9-D457-2CBD929BF9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4840002"/>
            <a:ext cx="1080477" cy="20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0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0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59EDBF-A4C1-8A87-E3E2-344D8F121544}"/>
              </a:ext>
            </a:extLst>
          </p:cNvPr>
          <p:cNvSpPr/>
          <p:nvPr userDrawn="1"/>
        </p:nvSpPr>
        <p:spPr>
          <a:xfrm>
            <a:off x="0" y="1"/>
            <a:ext cx="9144000" cy="411510"/>
          </a:xfrm>
          <a:prstGeom prst="rect">
            <a:avLst/>
          </a:prstGeom>
          <a:solidFill>
            <a:srgbClr val="F3F3F3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8886730" y="4940154"/>
            <a:ext cx="171923" cy="127872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ko-KR" altLang="en-US"/>
              <a:t> </a:t>
            </a:r>
            <a:fld id="{DD8E095E-C092-453D-83C6-E918FA6851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84639" y="141480"/>
            <a:ext cx="5483675" cy="216024"/>
          </a:xfrm>
          <a:prstGeom prst="rect">
            <a:avLst/>
          </a:prstGeom>
        </p:spPr>
        <p:txBody>
          <a:bodyPr wrap="none" lIns="0" tIns="0" rIns="0" bIns="0" anchor="ctr" anchorCtr="0"/>
          <a:lstStyle>
            <a:lvl1pPr marL="263776" indent="-263776">
              <a:buFont typeface="Arial" panose="020B0604020202020204" pitchFamily="34" charset="0"/>
              <a:buChar char="•"/>
              <a:defRPr sz="1477" b="1" spc="-65" baseline="0"/>
            </a:lvl1pPr>
            <a:lvl2pPr>
              <a:defRPr sz="2585" b="1"/>
            </a:lvl2pPr>
            <a:lvl3pPr>
              <a:defRPr sz="2585" b="1"/>
            </a:lvl3pPr>
            <a:lvl4pPr>
              <a:defRPr sz="2585" b="1"/>
            </a:lvl4pPr>
            <a:lvl5pPr>
              <a:defRPr sz="2585" b="1"/>
            </a:lvl5pPr>
          </a:lstStyle>
          <a:p>
            <a:pPr lvl="0"/>
            <a:r>
              <a:rPr lang="ko-KR" altLang="en-US"/>
              <a:t>분류명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84639" y="411510"/>
            <a:ext cx="877472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775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4">
          <p15:clr>
            <a:srgbClr val="FBAE40"/>
          </p15:clr>
        </p15:guide>
        <p15:guide id="2" pos="116">
          <p15:clr>
            <a:srgbClr val="FBAE40"/>
          </p15:clr>
        </p15:guide>
        <p15:guide id="3" pos="56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/>
          <p:cNvSpPr>
            <a:spLocks noGrp="1"/>
          </p:cNvSpPr>
          <p:nvPr>
            <p:ph type="body" sz="quarter" idx="10"/>
          </p:nvPr>
        </p:nvSpPr>
        <p:spPr>
          <a:xfrm>
            <a:off x="152401" y="600076"/>
            <a:ext cx="6380285" cy="216694"/>
          </a:xfrm>
          <a:prstGeom prst="rect">
            <a:avLst/>
          </a:prstGeom>
        </p:spPr>
        <p:txBody>
          <a:bodyPr anchor="ctr"/>
          <a:lstStyle>
            <a:lvl1pPr>
              <a:defRPr sz="1108"/>
            </a:lvl1pPr>
            <a:lvl2pPr>
              <a:defRPr sz="1108"/>
            </a:lvl2pPr>
            <a:lvl3pPr>
              <a:defRPr sz="1108"/>
            </a:lvl3pPr>
            <a:lvl4pPr>
              <a:defRPr sz="1108"/>
            </a:lvl4pPr>
            <a:lvl5pPr>
              <a:defRPr sz="1108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30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95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4" r:id="rId2"/>
    <p:sldLayoutId id="2147483766" r:id="rId3"/>
    <p:sldLayoutId id="2147483712" r:id="rId4"/>
    <p:sldLayoutId id="2147483718" r:id="rId5"/>
    <p:sldLayoutId id="2147483765" r:id="rId6"/>
  </p:sldLayoutIdLst>
  <p:hf hdr="0" ftr="0" dt="0"/>
  <p:txStyles>
    <p:titleStyle>
      <a:lvl1pPr algn="l" defTabSz="685817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1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4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2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1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4" indent="-171455" algn="l" defTabSz="685817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908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5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8" algn="l" defTabSz="685817" rtl="0" eaLnBrk="1" latinLnBrk="1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3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8" r:id="rId3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9.xml"/><Relationship Id="rId8" Type="http://schemas.openxmlformats.org/officeDocument/2006/relationships/image" Target="../media/image2.png"/><Relationship Id="rId9" Type="http://schemas.openxmlformats.org/officeDocument/2006/relationships/image" Target="../media/image3.jpeg"/><Relationship Id="rId10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[해외선교부] 해외선교 진단 및 관리 시스템 (OverseasPortal)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55000" lnSpcReduction="20000"/>
          </a:bodyPr>
          <a:lstStyle/>
          <a:p>
            <a:r>
              <a:t>화면설계서 (비보안 v1.0)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9047163" y="-352425"/>
            <a:ext cx="96837" cy="1285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 </a:t>
            </a:r>
            <a:fld id="{DD8E095E-C092-453D-83C6-E918FA68510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3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사이트 구성 (Site Map &amp; Menu Hierarchy)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218286" y="515864"/>
            <a:ext cx="2112017" cy="258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1depth (사용자 포탈 / 관리자 시스템)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18286" y="1809079"/>
            <a:ext cx="2112017" cy="2586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3depth (세부 기능 및 뷰)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218286" y="1488569"/>
            <a:ext cx="2112017" cy="2586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3depth (세부 기능 및 뷰)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2459859" y="515864"/>
            <a:ext cx="2112017" cy="258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1depth (사용자 포탈 / 관리자 시스템)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218286" y="839161"/>
            <a:ext cx="2112017" cy="2586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2depth (주요 업무 모듈)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2459859" y="839161"/>
            <a:ext cx="2112017" cy="2586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2depth (주요 업무 모듈)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3D5F19-AD84-8730-69C0-B9C22D2A54B5}"/>
              </a:ext>
            </a:extLst>
          </p:cNvPr>
          <p:cNvSpPr/>
          <p:nvPr/>
        </p:nvSpPr>
        <p:spPr>
          <a:xfrm>
            <a:off x="218286" y="1155046"/>
            <a:ext cx="2112017" cy="258615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2depth (주요 업무 모듈)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2B4939-BF8C-3A88-C22F-17E773681B2A}"/>
              </a:ext>
            </a:extLst>
          </p:cNvPr>
          <p:cNvSpPr/>
          <p:nvPr/>
        </p:nvSpPr>
        <p:spPr>
          <a:xfrm>
            <a:off x="2459859" y="1156453"/>
            <a:ext cx="2112017" cy="2586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61" tIns="33231" rIns="66461" bIns="33231" rtlCol="0" anchor="ctr"/>
          <a:lstStyle/>
          <a:p>
            <a:r>
              <a:t>3depth (세부 기능 및 뷰)</a:t>
            </a:r>
          </a:p>
        </p:txBody>
      </p:sp>
    </p:spTree>
    <p:extLst>
      <p:ext uri="{BB962C8B-B14F-4D97-AF65-F5344CB8AC3E}">
        <p14:creationId xmlns:p14="http://schemas.microsoft.com/office/powerpoint/2010/main" val="380749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운영자 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아이디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소속지부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관리부서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권한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계정상태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최종접속일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admin_overseas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김관리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본부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해외선교부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ROLE_ADMIN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leader_asia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이리더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아시아선교국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ROLE_LEADER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17:30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기획부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16:20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최선교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국내외평화부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 11:10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user_m03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정봉사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봉교부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 09:00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강협력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섭외부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 14:00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조점검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종교연합부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2026.08.08 10:00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user_m06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윤기획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IPYG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미사용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2026.08.01 12:00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user_m07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장평화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IWPG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2026.07.28 15:40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user_m08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임서기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본부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홍보언론부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2026.07.20 09:30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일자 검색   : 캘린더 피커 연동 ➔ 시작일/종료일 선택 ➔ 기간별 가입/접속 회원 조회 (시작일 &gt; 종료일 시 AL_SYS_005 알림)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일자 타입   : 라디오 선택 (전체, 금일, 1주일, 1개월) ➔ 선택 기간 캘린더 피커 자동 설정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권한 드롭다운: (전체-Default, ROLE_ADMIN, ROLE_LEADER, ROLE_USER) 활성화 ➔ 조건검색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>
                      <a:r>
                        <a:t>2a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소속 드롭다운: (전체-Default, 1~12지부, 본부) 활성화 ➔ 해당 소속 회원 조회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2b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관리부서  : (전체-Default, DB 등록 부서) 활성화 ➔ 부서별 필터링 결과 노출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회원 및 운영자 관리 - 목록/등록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회원 및 권한 &gt; 회원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37943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권한 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권한코드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권한명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설명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메뉴접근수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기본여부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수정일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ROLE_ADMIN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최고 관리자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전체 접근 및 관리 권한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전체(24개)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ROLE_LEADER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지부 리더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지부 데이터 관리 및 보고 권한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ROLE_USER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일반 사용자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포탈 사용자 조서 및 입력 권한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권한 생성/수정 : 신규 Role 추가 Modal ➔ 권한코드(ROLE_*) 및 권한명 등록 (AL_SYS_020 중복 검증)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메뉴 접근 매트릭스: 메뉴(s-key)별 Read/Write/Delete 접근 권한 체크박스 설정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소속 회원 관리 : 선택 권한에속한 사용자 목록 조회 ➔ 회원 권한 일괄 변경 및 이관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>
                      <a:r>
                        <a:t>2a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권한 즉시 동기화: 백엔드 DB sync ➔ authService/roleService 프론트 가드 즉시 적용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권한 목록 및 메뉴별 접근 설정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회원 및 권한 &gt; 권한 설정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관리자 대시보드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핵심지표명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목표치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현재실적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달성률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미제출건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최종집계일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전체 회원 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1,000명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95.0%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주간 보고서 제출률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88.5%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88.5%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12건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주의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주간 예배 참석률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92.1%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96.9%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5건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전도 가개강 누적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84.0%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KPI 요약 카드   : 회원수, 보고서 제출률, 출석률, 전도실적 수치 실시간 렌더링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미제출 지부 알림 : 미제출 건수 클릭 ➔ 텔레그램 연동 독촉 메시지 일괄 발송 모달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보안 관제 요약   : 최근 접속 IP, 실패 로그인, 대용량 다운로드 감사 로그 관제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관리자 종합 대시보드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홈 (종합 현황)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주간예배 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집계주차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취합일시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총대상자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출석인원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결석인원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취합상태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재취합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2026.08.16 00:00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1,200명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1,120명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재실행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32주차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2026.08.09 00:00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1,195명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1,110명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재실행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31주차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2026.08.02 00:00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1,190명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1,095명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재실행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30주차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2026.07.26 00:00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1,185명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1,080명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재실행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29주차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2026.07.19 00:00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1,180명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1,075명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재실행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자동 취합 실행  : 주차 선택 ➔ 백엔드 예배 출결 수집 배치 실행 (CF_SYS_005 알림)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이전 데이터 확인 : 주차별 출결 이력 조회 및 지부별 상세 참석 명단 엑셀 다운로드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지역/양식 설정   : 지부별 예배 출결 입력 서식 및 필수 제출 항목 커스텀 매핑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주간예배 출결 자동취합 및 설정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데이터 관리 &gt; 주간예배 출결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전도 전체관리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인도자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피인도자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수료단계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등록일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김인도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복음방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진행중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203구역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박인도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센터수강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진행중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305구역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정인도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강피인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수료예정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진행중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402구역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조인도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윤피인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가개강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대기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501구역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장인도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임피인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입학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대용량 엑셀 업로드: [.xlsx] 파일 선택 ➔ 컬럼 유효성 검증 ➔ DB 대용량 일괄 업로드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월말보고 양식관리: 월간 전도 보고서 템플릿 항목 구성 및 서식 표준화 설정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전도 데이터 단건수정: 개별 행 선택 ➔ 세부 전도 기록 수정 및 삭제 (CF_SYS_002)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전도 가개강 데이터 전체관리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데이터 관리 &gt; 전도 가개강 전체관리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주간보고 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보고주차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지부명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작성자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제출일시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제출상태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동적양식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독촉발송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김지부장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15:00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제출완료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 2.1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발송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이지부장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16:20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제출완료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 2.1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발송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박지부장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미제출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 2.1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독촉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최지부장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미제출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Ver 2.1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독촉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제출 현황 확인 : 주차별/지부별 제출 여부 모니터링 및 제출 보고서 파일 다운로드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Schema 양식 관리: JSON Schema 기반 주간 보고서 입력 항목 동적 구성 및 버전 관리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독촉 메세지 발송 : 미제출 지부 체크 ➔ 텔레그램 연동 알림 메시지 일괄 전송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주간보고 제출현황 및 동적 양식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데이터 관리 &gt; 주간보고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로그 및 시스템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로그유형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접근일시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사용자ID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클라이언트IP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요청URL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응답코드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LOGIN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18:20:10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admin_overseas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192.168.1.100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/api/auth/login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OK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ACCESS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18:20:15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admin_overseas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192.168.1.100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/api/admin/users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OK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FILE_DOWN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18:22:00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leader_asia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211.200.15.42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/api/files/download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GET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OK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FILE_UP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18:25:30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user_m01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175.120.3.11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/api/files/upload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OK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BACKDOOR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 18:29:00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admin_overseas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127.0.0.1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/api/backdoor/ip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POST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200 OK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로그 감사 조회 : 로그인/메뉴접근/파일업로드/다운로드 감사 로그 통합 필터링 조회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백도어 IP 관리  : 긴급/개발자 전용 허용 IP 등록 및 인가되지 않은 IP 자동 차단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봇 &amp; 메시지 관리 : 텔레그램 연동 봇 토큰/웹훅 설정 및 다국어(i18n) 사전 텍스트 등록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[관리자] 시스템 설정 및 보안/접근 로그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관리 &gt; 로그 및 시스템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종합 진단 메인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지부/지역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총성도수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전도실적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예배출석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재정수지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진단등급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아시아 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+15,000,000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유럽 2지부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+8,500,000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아메리카 3지부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+11,200,000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아프리카 4지부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+4,000,000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오세아니아 5지부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+2,800,000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B등급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상단 KPI 카운터 : 전도, 성도, 예배, 재정 4대 지표 실시간 집계 수치 및 전월 대비 증감률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3D/2D 지도 시각화: 글로벌 지부 마커 렌더링 ➔ 클릭 시 해당 지부 진단 요약 팝업 노출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구역별 상세 표  : 지부/구역 클릭 ➔ 양적·질적 선교 진단 지표 상세 데이터 테이블 렌더링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[사용자] 사용자 종합 진단 메인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해선부 업무포탈 &gt; 종합 진단 &amp; 현황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전도 동적렌더링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인도자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피인도자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인도일자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계산지표(SpEL)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진행단계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검증상태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갱신일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김전도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2026.08.01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85.5 (달성)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센터수강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박전도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2026.08.03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92.0 (우수)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수료예정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정전도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강피인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70.0 (보통)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복음방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조전도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윤피인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60.0 (주의)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가개강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검증대기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장전도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임피인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2026.08.12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95.0 (최우수)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입학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동적 위젯 (DynamicWidget): 백오피스 dynamic_menus 메타 수신 ➔ 위젯 카드 동적 생성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SpEL 수식 엔진  : menu_formulas ((varA + varB) / varC) 기반 계산 지표 실시간 출력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DynamicPageRenderer: JSON 메타데이터 기반 React 동적 뷰 렌더링 (/OverseasPortal/evangelism)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[사용자] 전도 현황 (동적 메타데이터 렌더링)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해선부 업무포탈 &gt; 전도 현황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성도/교적 관리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성도명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소속지부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직분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출석상태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신앙점수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관리일자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집사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출석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95점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출석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301구역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구역장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출석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405구역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결석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정성도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502구역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집사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출석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2026.08.08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교적 정보 검색 : 성도명, 소속 지부, 직분별 조건 검색 및 신규 교적 정보 등록 Modal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신앙 점수 집계 : 주간 예배, 모임, 사역 참석 이력 기반 성도별 신앙점수 자동 계산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성도 세부 카드 : 성도 선택 ➔ 세부 인적사항, 연락처, 사역 이력 조회/수정 팝업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[사용자] 성도 및 교적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해선부 업무포탈 &gt; 성도/교적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재정 및 전자결재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기안일자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항/목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금액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기안자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결재상태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결재버튼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선교비/교재비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1,500,000원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김기안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결재대기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결재하기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헌금/후원금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5,000,000원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이수입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승인완료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2026.08.10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행사비/수송비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800,000원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박행사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승인완료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상세보기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2026.08.05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사무비/통신비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350,000원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최사무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반려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사유보기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재정 장부 작성 : 수입/지출 선택 ➔ 항/목 금액 입력 ➔ 영수증 파일 첨부 기능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전자 결재 기안 : 3단계 결재선(기안-검토-승인) 지정 ➔ 전자 결재 문서 제출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결재 승인/반려 : 결재대기함 목록 ➔ 기안 문서 상세 확인 ➔ 전자 서명 승인 또는 반려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[사용자] 재정장부 및 전자결재 관리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해선부 업무포탈 &gt; 업무 및 재정 / 결재함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138027" y="514632"/>
            <a:ext cx="6380285" cy="216694"/>
          </a:xfrm>
        </p:spPr>
        <p:txBody>
          <a:bodyPr>
            <a:normAutofit fontScale="92500" lnSpcReduction="10000"/>
          </a:bodyPr>
          <a:lstStyle/>
          <a:p>
            <a:r>
              <a:t>보고서 및 계정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87885" y="496238"/>
            <a:ext cx="7299602" cy="129577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37">
              <a:ln w="1270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2103F2D-581E-4053-80F4-C319A8A0B0E1}"/>
              </a:ext>
            </a:extLst>
          </p:cNvPr>
          <p:cNvGrpSpPr/>
          <p:nvPr/>
        </p:nvGrpSpPr>
        <p:grpSpPr>
          <a:xfrm>
            <a:off x="374961" y="896771"/>
            <a:ext cx="1490675" cy="199292"/>
            <a:chOff x="421779" y="1644991"/>
            <a:chExt cx="1614897" cy="215900"/>
          </a:xfrm>
        </p:grpSpPr>
        <p:sp>
          <p:nvSpPr>
            <p:cNvPr id="47" name="TextBox 46"/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권한</a:t>
              </a:r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239158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8" y="1534322"/>
            <a:ext cx="4256636" cy="199385"/>
            <a:chOff x="411755" y="2288383"/>
            <a:chExt cx="4611356" cy="216000"/>
          </a:xfrm>
        </p:grpSpPr>
        <p:sp>
          <p:nvSpPr>
            <p:cNvPr id="50" name="Text Box"/>
            <p:cNvSpPr/>
            <p:nvPr/>
          </p:nvSpPr>
          <p:spPr>
            <a:xfrm>
              <a:off x="2114308" y="2288383"/>
              <a:ext cx="1722567" cy="216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3231" tIns="33231" rIns="33231" bIns="3323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739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검색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880395" y="2288383"/>
              <a:ext cx="539750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484948" y="2288383"/>
              <a:ext cx="538163" cy="2160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dk1">
                    <a:tint val="37000"/>
                    <a:satMod val="300000"/>
                  </a:schemeClr>
                </a:gs>
              </a:gsLst>
              <a:lin ang="15600000" scaled="0"/>
            </a:gradFill>
            <a:ln>
              <a:solidFill>
                <a:schemeClr val="tx1">
                  <a:lumMod val="50000"/>
                  <a:lumOff val="50000"/>
                </a:schemeClr>
              </a:solidFill>
              <a:headEnd/>
              <a:tailEnd/>
            </a:ln>
            <a:effectLst>
              <a:outerShdw blurRad="50800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ysClr val="windowText" lastClr="000000"/>
                  </a:solidFill>
                  <a:latin typeface="+mn-ea"/>
                </a:rPr>
                <a:t>초기화</a:t>
              </a:r>
            </a:p>
          </p:txBody>
        </p:sp>
        <p:sp>
          <p:nvSpPr>
            <p:cNvPr id="55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82F54A3-A276-81B7-5E74-00597C9C61C8}"/>
              </a:ext>
            </a:extLst>
          </p:cNvPr>
          <p:cNvGrpSpPr/>
          <p:nvPr/>
        </p:nvGrpSpPr>
        <p:grpSpPr>
          <a:xfrm>
            <a:off x="1139222" y="592674"/>
            <a:ext cx="726413" cy="199292"/>
            <a:chOff x="1153596" y="678118"/>
            <a:chExt cx="726413" cy="199292"/>
          </a:xfrm>
        </p:grpSpPr>
        <p:sp>
          <p:nvSpPr>
            <p:cNvPr id="57" name="Rectangle 122"/>
            <p:cNvSpPr>
              <a:spLocks noChangeArrowheads="1"/>
            </p:cNvSpPr>
            <p:nvPr/>
          </p:nvSpPr>
          <p:spPr bwMode="auto">
            <a:xfrm>
              <a:off x="1153596" y="678118"/>
              <a:ext cx="726413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69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0202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0" name="TextBox 69"/>
          <p:cNvSpPr txBox="1"/>
          <p:nvPr/>
        </p:nvSpPr>
        <p:spPr>
          <a:xfrm>
            <a:off x="1842493" y="592884"/>
            <a:ext cx="300267" cy="20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739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~</a:t>
            </a:r>
            <a:endParaRPr lang="ko-KR" altLang="en-US" sz="739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14806F4-7C0E-90A2-FAAC-0470AED27DF5}"/>
              </a:ext>
            </a:extLst>
          </p:cNvPr>
          <p:cNvGrpSpPr/>
          <p:nvPr/>
        </p:nvGrpSpPr>
        <p:grpSpPr>
          <a:xfrm>
            <a:off x="2054131" y="592674"/>
            <a:ext cx="708835" cy="199292"/>
            <a:chOff x="2068505" y="678118"/>
            <a:chExt cx="708835" cy="199292"/>
          </a:xfrm>
        </p:grpSpPr>
        <p:sp>
          <p:nvSpPr>
            <p:cNvPr id="71" name="Rectangle 122"/>
            <p:cNvSpPr>
              <a:spLocks noChangeArrowheads="1"/>
            </p:cNvSpPr>
            <p:nvPr/>
          </p:nvSpPr>
          <p:spPr bwMode="auto">
            <a:xfrm>
              <a:off x="2068505" y="678118"/>
              <a:ext cx="708835" cy="1992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2" name="Picture 86" descr="btn_calenda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5111" y="711302"/>
              <a:ext cx="151049" cy="13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TextBox 72"/>
          <p:cNvSpPr txBox="1"/>
          <p:nvPr/>
        </p:nvSpPr>
        <p:spPr>
          <a:xfrm>
            <a:off x="369709" y="628397"/>
            <a:ext cx="849233" cy="11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39" b="1" dirty="0"/>
              <a:t>일자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695065E-23C3-4C2A-BC8E-855C1F82CD09}"/>
              </a:ext>
            </a:extLst>
          </p:cNvPr>
          <p:cNvGrpSpPr/>
          <p:nvPr/>
        </p:nvGrpSpPr>
        <p:grpSpPr>
          <a:xfrm>
            <a:off x="365709" y="1201977"/>
            <a:ext cx="1499927" cy="199385"/>
            <a:chOff x="411755" y="2288383"/>
            <a:chExt cx="1624921" cy="216000"/>
          </a:xfrm>
        </p:grpSpPr>
        <p:sp>
          <p:nvSpPr>
            <p:cNvPr id="116" name="TextBox 115"/>
            <p:cNvSpPr txBox="1"/>
            <p:nvPr/>
          </p:nvSpPr>
          <p:spPr>
            <a:xfrm>
              <a:off x="411755" y="2327134"/>
              <a:ext cx="920002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 err="1"/>
                <a:t>계정상태</a:t>
              </a:r>
              <a:endParaRPr lang="ko-KR" altLang="en-US" sz="739" b="1" dirty="0"/>
            </a:p>
          </p:txBody>
        </p:sp>
        <p:sp>
          <p:nvSpPr>
            <p:cNvPr id="117" name="Rectangle 122"/>
            <p:cNvSpPr>
              <a:spLocks noChangeArrowheads="1"/>
            </p:cNvSpPr>
            <p:nvPr/>
          </p:nvSpPr>
          <p:spPr bwMode="auto">
            <a:xfrm>
              <a:off x="1233335" y="2288383"/>
              <a:ext cx="803341" cy="2160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sp>
        <p:nvSpPr>
          <p:cNvPr id="122" name="Rectangle 93"/>
          <p:cNvSpPr>
            <a:spLocks noChangeArrowheads="1"/>
          </p:cNvSpPr>
          <p:nvPr/>
        </p:nvSpPr>
        <p:spPr bwMode="auto">
          <a:xfrm>
            <a:off x="6892752" y="4562580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등록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B8A0D19-9E3E-4074-9BEC-D33AD2DBDC1D}"/>
              </a:ext>
            </a:extLst>
          </p:cNvPr>
          <p:cNvSpPr/>
          <p:nvPr/>
        </p:nvSpPr>
        <p:spPr>
          <a:xfrm>
            <a:off x="87885" y="1890684"/>
            <a:ext cx="436017" cy="12785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총 </a:t>
            </a:r>
            <a:r>
              <a:rPr lang="en-US" altLang="ko-KR" sz="831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100</a:t>
            </a:r>
            <a:r>
              <a:rPr lang="ko-KR" altLang="en-US" sz="831" b="1" dirty="0">
                <a:latin typeface="맑은 고딕" panose="020B0503020000020004" pitchFamily="50" charset="-127"/>
                <a:ea typeface="맑은 고딕" panose="020B0503020000020004" pitchFamily="50" charset="-127"/>
                <a:sym typeface="?? ?? Bold"/>
              </a:rPr>
              <a:t>건</a:t>
            </a:r>
            <a:endParaRPr lang="en-US" altLang="ko-KR" sz="831" b="1" dirty="0">
              <a:latin typeface="맑은 고딕" panose="020B0503020000020004" pitchFamily="50" charset="-127"/>
              <a:ea typeface="맑은 고딕" panose="020B0503020000020004" pitchFamily="50" charset="-127"/>
              <a:sym typeface="?? ?? Bold"/>
            </a:endParaRPr>
          </a:p>
        </p:txBody>
      </p:sp>
      <p:graphicFrame>
        <p:nvGraphicFramePr>
          <p:cNvPr id="141" name="표 140">
            <a:extLst>
              <a:ext uri="{FF2B5EF4-FFF2-40B4-BE49-F238E27FC236}">
                <a16:creationId xmlns:a16="http://schemas.microsoft.com/office/drawing/2014/main" id="{DE271A2C-75F3-4C1C-8DD2-404159E28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63217"/>
              </p:ext>
            </p:extLst>
          </p:nvPr>
        </p:nvGraphicFramePr>
        <p:xfrm>
          <a:off x="87885" y="2142701"/>
          <a:ext cx="7299601" cy="2376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269">
                  <a:extLst>
                    <a:ext uri="{9D8B030D-6E8A-4147-A177-3AD203B41FA5}">
                      <a16:colId xmlns:a16="http://schemas.microsoft.com/office/drawing/2014/main" val="3080903718"/>
                    </a:ext>
                  </a:extLst>
                </a:gridCol>
                <a:gridCol w="458147">
                  <a:extLst>
                    <a:ext uri="{9D8B030D-6E8A-4147-A177-3AD203B41FA5}">
                      <a16:colId xmlns:a16="http://schemas.microsoft.com/office/drawing/2014/main" val="3644051362"/>
                    </a:ext>
                  </a:extLst>
                </a:gridCol>
                <a:gridCol w="1189700">
                  <a:extLst>
                    <a:ext uri="{9D8B030D-6E8A-4147-A177-3AD203B41FA5}">
                      <a16:colId xmlns:a16="http://schemas.microsoft.com/office/drawing/2014/main" val="2952508126"/>
                    </a:ext>
                  </a:extLst>
                </a:gridCol>
                <a:gridCol w="797039">
                  <a:extLst>
                    <a:ext uri="{9D8B030D-6E8A-4147-A177-3AD203B41FA5}">
                      <a16:colId xmlns:a16="http://schemas.microsoft.com/office/drawing/2014/main" val="1316559649"/>
                    </a:ext>
                  </a:extLst>
                </a:gridCol>
                <a:gridCol w="742258">
                  <a:extLst>
                    <a:ext uri="{9D8B030D-6E8A-4147-A177-3AD203B41FA5}">
                      <a16:colId xmlns:a16="http://schemas.microsoft.com/office/drawing/2014/main" val="903310169"/>
                    </a:ext>
                  </a:extLst>
                </a:gridCol>
                <a:gridCol w="1288842">
                  <a:extLst>
                    <a:ext uri="{9D8B030D-6E8A-4147-A177-3AD203B41FA5}">
                      <a16:colId xmlns:a16="http://schemas.microsoft.com/office/drawing/2014/main" val="2632778609"/>
                    </a:ext>
                  </a:extLst>
                </a:gridCol>
                <a:gridCol w="793882">
                  <a:extLst>
                    <a:ext uri="{9D8B030D-6E8A-4147-A177-3AD203B41FA5}">
                      <a16:colId xmlns:a16="http://schemas.microsoft.com/office/drawing/2014/main" val="3398877446"/>
                    </a:ext>
                  </a:extLst>
                </a:gridCol>
                <a:gridCol w="687468">
                  <a:extLst>
                    <a:ext uri="{9D8B030D-6E8A-4147-A177-3AD203B41FA5}">
                      <a16:colId xmlns:a16="http://schemas.microsoft.com/office/drawing/2014/main" val="38325106"/>
                    </a:ext>
                  </a:extLst>
                </a:gridCol>
                <a:gridCol w="1120996">
                  <a:extLst>
                    <a:ext uri="{9D8B030D-6E8A-4147-A177-3AD203B41FA5}">
                      <a16:colId xmlns:a16="http://schemas.microsoft.com/office/drawing/2014/main" val="29855824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번호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작성주차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작성자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소속지부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금주실적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차주계획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임시저장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제출상태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093323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33주차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김작성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가개강 5명 달성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센터 수료식 준비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17:40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작성중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315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32주차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김작성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예배 참석 98%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신규 성도 면담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제출완료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190464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31주차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김작성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전도 집계 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월간 보고서 제출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제출완료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0685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2026년 30주차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김작성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1지부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지부 모임 진행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교적 정비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제출완료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91841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937060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792" marR="8792" marT="8792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943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12669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07505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229118"/>
                  </a:ext>
                </a:extLst>
              </a:tr>
              <a:tr h="216000">
                <a:tc>
                  <a:txBody>
                    <a:bodyPr/>
                    <a:lstStyle/>
                    <a:p/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4407" marR="84407" marT="42203" marB="4220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354423"/>
                  </a:ext>
                </a:extLst>
              </a:tr>
            </a:tbl>
          </a:graphicData>
        </a:graphic>
      </p:graphicFrame>
      <p:grpSp>
        <p:nvGrpSpPr>
          <p:cNvPr id="155" name="그룹 154"/>
          <p:cNvGrpSpPr/>
          <p:nvPr/>
        </p:nvGrpSpPr>
        <p:grpSpPr>
          <a:xfrm>
            <a:off x="2407942" y="4768714"/>
            <a:ext cx="2659487" cy="166172"/>
            <a:chOff x="1965149" y="2526229"/>
            <a:chExt cx="3121202" cy="180020"/>
          </a:xfrm>
        </p:grpSpPr>
        <p:sp>
          <p:nvSpPr>
            <p:cNvPr id="156" name="직사각형 155"/>
            <p:cNvSpPr/>
            <p:nvPr/>
          </p:nvSpPr>
          <p:spPr>
            <a:xfrm>
              <a:off x="2423287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rgbClr val="C00000"/>
                  </a:solidFill>
                  <a:latin typeface="+mn-ea"/>
                  <a:cs typeface="Arial" pitchFamily="34" charset="0"/>
                </a:rPr>
                <a:t>1</a:t>
              </a:r>
              <a:endParaRPr lang="ko-KR" altLang="en-US" sz="831">
                <a:solidFill>
                  <a:srgbClr val="C00000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648276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tx1"/>
                  </a:solidFill>
                  <a:latin typeface="+mn-ea"/>
                  <a:cs typeface="Arial" pitchFamily="34" charset="0"/>
                </a:rPr>
                <a:t>2</a:t>
              </a:r>
              <a:endParaRPr lang="ko-KR" altLang="en-US" sz="831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873265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3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3098254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4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3323243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5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3548232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6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773221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7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998210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8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4223199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9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4448188" y="2526229"/>
              <a:ext cx="180020" cy="18002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31">
                  <a:solidFill>
                    <a:schemeClr val="bg1">
                      <a:lumMod val="50000"/>
                    </a:schemeClr>
                  </a:solidFill>
                  <a:latin typeface="+mn-ea"/>
                  <a:cs typeface="Arial" pitchFamily="34" charset="0"/>
                </a:rPr>
                <a:t>10</a:t>
              </a:r>
              <a:endParaRPr lang="ko-KR" altLang="en-US" sz="83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4673177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&gt;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902251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&gt;&gt;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8" name="직사각형 167"/>
            <p:cNvSpPr/>
            <p:nvPr/>
          </p:nvSpPr>
          <p:spPr>
            <a:xfrm>
              <a:off x="1965149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 spc="-277">
                  <a:solidFill>
                    <a:schemeClr val="tx1"/>
                  </a:solidFill>
                  <a:latin typeface="+mn-ea"/>
                </a:rPr>
                <a:t>&lt;&lt;</a:t>
              </a:r>
              <a:endParaRPr lang="ko-KR" altLang="en-US" sz="737" spc="-277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>
              <a:off x="2194218" y="2526229"/>
              <a:ext cx="184100" cy="1800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37">
                  <a:solidFill>
                    <a:schemeClr val="tx1"/>
                  </a:solidFill>
                  <a:latin typeface="+mn-ea"/>
                </a:rPr>
                <a:t>&lt;</a:t>
              </a:r>
              <a:endParaRPr lang="ko-KR" altLang="en-US" sz="737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2975038" y="603591"/>
            <a:ext cx="3760931" cy="181935"/>
            <a:chOff x="3238529" y="1216990"/>
            <a:chExt cx="4074342" cy="197096"/>
          </a:xfrm>
        </p:grpSpPr>
        <p:grpSp>
          <p:nvGrpSpPr>
            <p:cNvPr id="175" name="그룹 174"/>
            <p:cNvGrpSpPr/>
            <p:nvPr/>
          </p:nvGrpSpPr>
          <p:grpSpPr>
            <a:xfrm>
              <a:off x="3238529" y="1216990"/>
              <a:ext cx="680273" cy="197096"/>
              <a:chOff x="3238529" y="1216990"/>
              <a:chExt cx="680273" cy="197096"/>
            </a:xfrm>
          </p:grpSpPr>
          <p:sp>
            <p:nvSpPr>
              <p:cNvPr id="19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61234" y="1216990"/>
                <a:ext cx="557568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직접입력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8529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6" name="그룹 175"/>
            <p:cNvGrpSpPr/>
            <p:nvPr/>
          </p:nvGrpSpPr>
          <p:grpSpPr>
            <a:xfrm>
              <a:off x="4099020" y="1216990"/>
              <a:ext cx="528349" cy="197096"/>
              <a:chOff x="4099020" y="1216990"/>
              <a:chExt cx="528349" cy="197096"/>
            </a:xfrm>
          </p:grpSpPr>
          <p:sp>
            <p:nvSpPr>
              <p:cNvPr id="189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219148" y="1216990"/>
                <a:ext cx="408221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주일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90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9020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7" name="그룹 176"/>
            <p:cNvGrpSpPr/>
            <p:nvPr/>
          </p:nvGrpSpPr>
          <p:grpSpPr>
            <a:xfrm>
              <a:off x="4801435" y="1216990"/>
              <a:ext cx="543318" cy="197096"/>
              <a:chOff x="4801435" y="1216990"/>
              <a:chExt cx="543318" cy="197096"/>
            </a:xfrm>
          </p:grpSpPr>
          <p:sp>
            <p:nvSpPr>
              <p:cNvPr id="18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908747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1435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8" name="그룹 177"/>
            <p:cNvGrpSpPr/>
            <p:nvPr/>
          </p:nvGrpSpPr>
          <p:grpSpPr>
            <a:xfrm>
              <a:off x="5534362" y="1216990"/>
              <a:ext cx="532050" cy="197096"/>
              <a:chOff x="5534362" y="1216990"/>
              <a:chExt cx="532050" cy="197096"/>
            </a:xfrm>
          </p:grpSpPr>
          <p:sp>
            <p:nvSpPr>
              <p:cNvPr id="18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630406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6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4362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9" name="그룹 178"/>
            <p:cNvGrpSpPr/>
            <p:nvPr/>
          </p:nvGrpSpPr>
          <p:grpSpPr>
            <a:xfrm>
              <a:off x="6243494" y="1216990"/>
              <a:ext cx="544577" cy="197096"/>
              <a:chOff x="6243494" y="1216990"/>
              <a:chExt cx="544577" cy="197096"/>
            </a:xfrm>
          </p:grpSpPr>
          <p:sp>
            <p:nvSpPr>
              <p:cNvPr id="183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352065" y="1216990"/>
                <a:ext cx="436006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개월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4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3494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0" name="그룹 179"/>
            <p:cNvGrpSpPr/>
            <p:nvPr/>
          </p:nvGrpSpPr>
          <p:grpSpPr>
            <a:xfrm>
              <a:off x="6873196" y="1216990"/>
              <a:ext cx="439675" cy="197096"/>
              <a:chOff x="6873196" y="1216990"/>
              <a:chExt cx="439675" cy="197096"/>
            </a:xfrm>
          </p:grpSpPr>
          <p:sp>
            <p:nvSpPr>
              <p:cNvPr id="181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6979322" y="1216990"/>
                <a:ext cx="333549" cy="197096"/>
              </a:xfrm>
              <a:prstGeom prst="rect">
                <a:avLst/>
              </a:prstGeom>
              <a:noFill/>
            </p:spPr>
            <p:txBody>
              <a:bodyPr wrap="none" lIns="67525" tIns="33763" rIns="67525" bIns="33763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  <a:r>
                  <a:rPr lang="ko-KR" altLang="en-US" sz="739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년 </a:t>
                </a:r>
                <a:endParaRPr lang="en-US" sz="739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82" name="그림 34" descr="라디오버튼_선택x.jp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3196" y="1239186"/>
                <a:ext cx="133350" cy="142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89" name="Rectangle 122">
            <a:extLst>
              <a:ext uri="{FF2B5EF4-FFF2-40B4-BE49-F238E27FC236}">
                <a16:creationId xmlns:a16="http://schemas.microsoft.com/office/drawing/2014/main" id="{C165C490-92DA-4E90-9167-E1B400CAE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947" y="1854966"/>
            <a:ext cx="797539" cy="199292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개씩 보기</a:t>
            </a:r>
            <a:r>
              <a:rPr kumimoji="0" lang="en-US" altLang="ko-KR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kumimoji="0" lang="ko-KR" altLang="en-US" sz="73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▼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A138AC-EAD4-786A-1144-A6CAC760C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784453"/>
              </p:ext>
            </p:extLst>
          </p:nvPr>
        </p:nvGraphicFramePr>
        <p:xfrm>
          <a:off x="7473349" y="483518"/>
          <a:ext cx="1589942" cy="44870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4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370"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33237" marR="33237" marT="31660" marB="316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33237" marR="33237" marT="31660" marB="3166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0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Schema 보고서 작성: 관리자가 구성한 Schema 기반 입력 항목 렌더링 ➔ 자동 임시저장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35">
                <a:tc>
                  <a:txBody>
                    <a:bodyPr/>
                    <a:lstStyle/>
                    <a:p>
                      <a:r>
                        <a:t>1a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제출 및 출력   : 작성 검증 후 최종 제출 ➔ 주간보고 PDF/엑셀 파일 출력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712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t>로그인 &amp; 프로필 : JWT 인증 로그인 ➔ 세션 만료 10초 주기 체크 ➔ 내 프로필 수정</a:t>
                      </a:r>
                    </a:p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879084"/>
                  </a:ext>
                </a:extLst>
              </a:tr>
              <a:tr h="787661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116960"/>
                  </a:ext>
                </a:extLst>
              </a:tr>
              <a:tr h="907124">
                <a:tc>
                  <a:txBody>
                    <a:bodyPr/>
                    <a:lstStyle/>
                    <a:p/>
                  </a:txBody>
                  <a:tcPr marL="33237" marR="33237" marT="31649" marB="31649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/>
                  </a:txBody>
                  <a:tcPr marL="33237" marR="33237" marT="31649" marB="31649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8882174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18275BF1-4E50-0C70-392D-E78C5827926F}"/>
              </a:ext>
            </a:extLst>
          </p:cNvPr>
          <p:cNvGrpSpPr/>
          <p:nvPr/>
        </p:nvGrpSpPr>
        <p:grpSpPr>
          <a:xfrm>
            <a:off x="2054131" y="896771"/>
            <a:ext cx="1043987" cy="199292"/>
            <a:chOff x="421779" y="1644991"/>
            <a:chExt cx="1130986" cy="2159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F5388A-6565-092E-7824-7713EDE56264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소속</a:t>
              </a:r>
            </a:p>
          </p:txBody>
        </p:sp>
        <p:sp>
          <p:nvSpPr>
            <p:cNvPr id="9" name="Rectangle 122">
              <a:extLst>
                <a:ext uri="{FF2B5EF4-FFF2-40B4-BE49-F238E27FC236}">
                  <a16:creationId xmlns:a16="http://schemas.microsoft.com/office/drawing/2014/main" id="{2E07EC54-2774-A5CF-CD90-07FC28A85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247" y="1644991"/>
              <a:ext cx="797518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9E611D-141C-4050-7BF2-38079AE490A9}"/>
              </a:ext>
            </a:extLst>
          </p:cNvPr>
          <p:cNvGrpSpPr/>
          <p:nvPr/>
        </p:nvGrpSpPr>
        <p:grpSpPr>
          <a:xfrm>
            <a:off x="3272997" y="896771"/>
            <a:ext cx="1490675" cy="199292"/>
            <a:chOff x="421779" y="1644991"/>
            <a:chExt cx="1614897" cy="2159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378D6-ACFA-E70D-3486-B69F29091A2F}"/>
                </a:ext>
              </a:extLst>
            </p:cNvPr>
            <p:cNvSpPr txBox="1"/>
            <p:nvPr/>
          </p:nvSpPr>
          <p:spPr>
            <a:xfrm>
              <a:off x="421779" y="1683692"/>
              <a:ext cx="449978" cy="1232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39" b="1" dirty="0"/>
                <a:t>관리부서</a:t>
              </a:r>
            </a:p>
          </p:txBody>
        </p:sp>
        <p:sp>
          <p:nvSpPr>
            <p:cNvPr id="12" name="Rectangle 122">
              <a:extLst>
                <a:ext uri="{FF2B5EF4-FFF2-40B4-BE49-F238E27FC236}">
                  <a16:creationId xmlns:a16="http://schemas.microsoft.com/office/drawing/2014/main" id="{F7105D7C-8003-1819-0C83-E384526F5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757" y="1644991"/>
              <a:ext cx="1164919" cy="21590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전체</a:t>
              </a:r>
              <a:r>
                <a:rPr kumimoji="0" lang="en-US" altLang="ko-KR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</a:t>
              </a:r>
              <a:r>
                <a:rPr kumimoji="0" lang="ko-KR" altLang="en-US" sz="739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▼</a:t>
              </a:r>
            </a:p>
          </p:txBody>
        </p:sp>
      </p:grpSp>
      <p:pic>
        <p:nvPicPr>
          <p:cNvPr id="13" name="그림 41" descr="체크박스_선택x.jpg">
            <a:extLst>
              <a:ext uri="{FF2B5EF4-FFF2-40B4-BE49-F238E27FC236}">
                <a16:creationId xmlns:a16="http://schemas.microsoft.com/office/drawing/2014/main" id="{812A3F53-6C1E-A02D-F3D2-855383C0C6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18316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41" descr="체크박스_선택x.jpg">
            <a:extLst>
              <a:ext uri="{FF2B5EF4-FFF2-40B4-BE49-F238E27FC236}">
                <a16:creationId xmlns:a16="http://schemas.microsoft.com/office/drawing/2014/main" id="{6F95B934-4787-A7B4-D02B-80AC5AC54F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39877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그림 41" descr="체크박스_선택x.jpg">
            <a:extLst>
              <a:ext uri="{FF2B5EF4-FFF2-40B4-BE49-F238E27FC236}">
                <a16:creationId xmlns:a16="http://schemas.microsoft.com/office/drawing/2014/main" id="{D90E56A2-7093-5412-F2E0-A52584E814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61439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41" descr="체크박스_선택x.jpg">
            <a:extLst>
              <a:ext uri="{FF2B5EF4-FFF2-40B4-BE49-F238E27FC236}">
                <a16:creationId xmlns:a16="http://schemas.microsoft.com/office/drawing/2014/main" id="{8939D1CB-A534-1A73-5C7F-5899291AA5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283000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그림 41" descr="체크박스_선택x.jpg">
            <a:extLst>
              <a:ext uri="{FF2B5EF4-FFF2-40B4-BE49-F238E27FC236}">
                <a16:creationId xmlns:a16="http://schemas.microsoft.com/office/drawing/2014/main" id="{4948264E-DFF7-9A39-7E70-8C56F6B386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04561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그림 41" descr="체크박스_선택x.jpg">
            <a:extLst>
              <a:ext uri="{FF2B5EF4-FFF2-40B4-BE49-F238E27FC236}">
                <a16:creationId xmlns:a16="http://schemas.microsoft.com/office/drawing/2014/main" id="{96423403-2554-F7CF-9B79-11E0D60EFE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261227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그림 41" descr="체크박스_선택x.jpg">
            <a:extLst>
              <a:ext uri="{FF2B5EF4-FFF2-40B4-BE49-F238E27FC236}">
                <a16:creationId xmlns:a16="http://schemas.microsoft.com/office/drawing/2014/main" id="{80AF6EBB-190A-DB7F-6465-1F3611224B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476839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그림 41" descr="체크박스_선택x.jpg">
            <a:extLst>
              <a:ext uri="{FF2B5EF4-FFF2-40B4-BE49-F238E27FC236}">
                <a16:creationId xmlns:a16="http://schemas.microsoft.com/office/drawing/2014/main" id="{963B50AA-A3A7-E33C-7058-CF212A8B8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692451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41" descr="체크박스_선택x.jpg">
            <a:extLst>
              <a:ext uri="{FF2B5EF4-FFF2-40B4-BE49-F238E27FC236}">
                <a16:creationId xmlns:a16="http://schemas.microsoft.com/office/drawing/2014/main" id="{965FA238-86BB-EC00-B72B-08FDF0878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3908063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그림 41" descr="체크박스_선택x.jpg">
            <a:extLst>
              <a:ext uri="{FF2B5EF4-FFF2-40B4-BE49-F238E27FC236}">
                <a16:creationId xmlns:a16="http://schemas.microsoft.com/office/drawing/2014/main" id="{6080EF2C-B351-0D5C-2F00-90F38FF51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33928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41" descr="체크박스_선택x.jpg">
            <a:extLst>
              <a:ext uri="{FF2B5EF4-FFF2-40B4-BE49-F238E27FC236}">
                <a16:creationId xmlns:a16="http://schemas.microsoft.com/office/drawing/2014/main" id="{EB34BA8E-8FF1-5ED2-2490-0EDC25D773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77" y="4123675"/>
            <a:ext cx="131885" cy="131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93">
            <a:extLst>
              <a:ext uri="{FF2B5EF4-FFF2-40B4-BE49-F238E27FC236}">
                <a16:creationId xmlns:a16="http://schemas.microsoft.com/office/drawing/2014/main" id="{68472E85-B908-55EE-2636-AC88CF540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12" y="4570886"/>
            <a:ext cx="498231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삭제</a:t>
            </a:r>
          </a:p>
        </p:txBody>
      </p:sp>
      <p:sp>
        <p:nvSpPr>
          <p:cNvPr id="15" name="모서리가 둥근 직사각형 20">
            <a:extLst>
              <a:ext uri="{FF2B5EF4-FFF2-40B4-BE49-F238E27FC236}">
                <a16:creationId xmlns:a16="http://schemas.microsoft.com/office/drawing/2014/main" id="{9C0637D0-B9D8-D35B-2C8D-9AE40E626E8A}"/>
              </a:ext>
            </a:extLst>
          </p:cNvPr>
          <p:cNvSpPr/>
          <p:nvPr/>
        </p:nvSpPr>
        <p:spPr>
          <a:xfrm>
            <a:off x="992096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B4214661-FBB5-9CD1-0CF7-6BC6D775C1EE}"/>
              </a:ext>
            </a:extLst>
          </p:cNvPr>
          <p:cNvSpPr/>
          <p:nvPr/>
        </p:nvSpPr>
        <p:spPr>
          <a:xfrm>
            <a:off x="2848254" y="496238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1a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모서리가 둥근 직사각형 20">
            <a:extLst>
              <a:ext uri="{FF2B5EF4-FFF2-40B4-BE49-F238E27FC236}">
                <a16:creationId xmlns:a16="http://schemas.microsoft.com/office/drawing/2014/main" id="{75C44DCA-0A15-F9D4-DCA6-DBFEF854BDB7}"/>
              </a:ext>
            </a:extLst>
          </p:cNvPr>
          <p:cNvSpPr/>
          <p:nvPr/>
        </p:nvSpPr>
        <p:spPr>
          <a:xfrm>
            <a:off x="992096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모서리가 둥근 직사각형 20">
            <a:extLst>
              <a:ext uri="{FF2B5EF4-FFF2-40B4-BE49-F238E27FC236}">
                <a16:creationId xmlns:a16="http://schemas.microsoft.com/office/drawing/2014/main" id="{9538B8C5-9F59-C707-2563-909F853F9A4C}"/>
              </a:ext>
            </a:extLst>
          </p:cNvPr>
          <p:cNvSpPr/>
          <p:nvPr/>
        </p:nvSpPr>
        <p:spPr>
          <a:xfrm>
            <a:off x="2223922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2a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모서리가 둥근 직사각형 20">
            <a:extLst>
              <a:ext uri="{FF2B5EF4-FFF2-40B4-BE49-F238E27FC236}">
                <a16:creationId xmlns:a16="http://schemas.microsoft.com/office/drawing/2014/main" id="{5130610C-A1F9-059F-0978-A6DA31A5C29B}"/>
              </a:ext>
            </a:extLst>
          </p:cNvPr>
          <p:cNvSpPr/>
          <p:nvPr/>
        </p:nvSpPr>
        <p:spPr>
          <a:xfrm>
            <a:off x="3567464" y="848604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2b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2BFF021-38EE-80A5-6B00-C517B1409EDE}"/>
              </a:ext>
            </a:extLst>
          </p:cNvPr>
          <p:cNvSpPr/>
          <p:nvPr/>
        </p:nvSpPr>
        <p:spPr>
          <a:xfrm>
            <a:off x="992096" y="113476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50A20AB-6ACD-7B4E-58F1-66D5843503F0}"/>
              </a:ext>
            </a:extLst>
          </p:cNvPr>
          <p:cNvSpPr/>
          <p:nvPr/>
        </p:nvSpPr>
        <p:spPr>
          <a:xfrm>
            <a:off x="992096" y="1451310"/>
            <a:ext cx="211547" cy="152039"/>
          </a:xfrm>
          <a:prstGeom prst="roundRect">
            <a:avLst/>
          </a:prstGeom>
          <a:solidFill>
            <a:srgbClr val="C0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39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39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Rectangle 93">
            <a:extLst>
              <a:ext uri="{FF2B5EF4-FFF2-40B4-BE49-F238E27FC236}">
                <a16:creationId xmlns:a16="http://schemas.microsoft.com/office/drawing/2014/main" id="{2A637933-62A6-5366-E2EE-2A9E891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902" y="4562579"/>
            <a:ext cx="894443" cy="197828"/>
          </a:xfrm>
          <a:prstGeom prst="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dk1">
                  <a:tint val="37000"/>
                  <a:satMod val="300000"/>
                </a:schemeClr>
              </a:gs>
            </a:gsLst>
            <a:lin ang="15600000" scaled="0"/>
          </a:gra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39" kern="0" dirty="0">
                <a:solidFill>
                  <a:sysClr val="windowText" lastClr="000000"/>
                </a:solidFill>
                <a:latin typeface="+mn-ea"/>
              </a:rPr>
              <a:t>초기 비밀번호 설정</a:t>
            </a:r>
          </a:p>
        </p:txBody>
      </p:sp>
      <p:graphicFrame>
        <p:nvGraphicFramePr>
          <p:cNvPr id="23" name="Group 70">
            <a:extLst>
              <a:ext uri="{FF2B5EF4-FFF2-40B4-BE49-F238E27FC236}">
                <a16:creationId xmlns:a16="http://schemas.microsoft.com/office/drawing/2014/main" id="{C1BEFE30-55ED-D563-1473-8BF6FE21E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199509"/>
              </p:ext>
            </p:extLst>
          </p:nvPr>
        </p:nvGraphicFramePr>
        <p:xfrm>
          <a:off x="87921" y="98273"/>
          <a:ext cx="8975370" cy="214908"/>
        </p:xfrm>
        <a:graphic>
          <a:graphicData uri="http://schemas.openxmlformats.org/drawingml/2006/table">
            <a:tbl>
              <a:tblPr/>
              <a:tblGrid>
                <a:gridCol w="95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0">
                  <a:extLst>
                    <a:ext uri="{9D8B030D-6E8A-4147-A177-3AD203B41FA5}">
                      <a16:colId xmlns:a16="http://schemas.microsoft.com/office/drawing/2014/main" val="3492446163"/>
                    </a:ext>
                  </a:extLst>
                </a:gridCol>
                <a:gridCol w="3527935">
                  <a:extLst>
                    <a:ext uri="{9D8B030D-6E8A-4147-A177-3AD203B41FA5}">
                      <a16:colId xmlns:a16="http://schemas.microsoft.com/office/drawing/2014/main" val="1552792733"/>
                    </a:ext>
                  </a:extLst>
                </a:gridCol>
              </a:tblGrid>
              <a:tr h="2149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화면이름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Franklin Gothic Book"/>
                        </a:defRPr>
                      </a:lvl9pPr>
                    </a:lstStyle>
                    <a:p>
                      <a:r>
                        <a:t>[사용자] 주간 보고서 작성 및 로그인/프로필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23875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itchFamily="34" charset="0"/>
                        </a:rPr>
                        <a:t>화면경로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해선부 업무포탈 &gt; 주간 보고서 / 로그인</a:t>
                      </a:r>
                    </a:p>
                  </a:txBody>
                  <a:tcPr marL="44796" marR="44796" marT="17819" marB="17819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8091169" y="4952152"/>
            <a:ext cx="126236" cy="103874"/>
          </a:xfrm>
        </p:spPr>
        <p:txBody>
          <a:bodyPr/>
          <a:lstStyle/>
          <a:p>
            <a:r>
              <a:rPr lang="ko-KR" altLang="en-US"/>
              <a:t> </a:t>
            </a:r>
            <a:fld id="{DD8E095E-C092-453D-83C6-E918FA685101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Alert/Confirm  </a:t>
            </a:r>
            <a:r>
              <a:rPr lang="ko-KR" altLang="en-US" dirty="0">
                <a:latin typeface="+mn-ea"/>
                <a:ea typeface="+mn-ea"/>
              </a:rPr>
              <a:t>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7908" y="458112"/>
            <a:ext cx="221214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Alert</a:t>
            </a:r>
            <a:endParaRPr lang="ko-KR" altLang="en-US" sz="7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4671395" y="1996732"/>
          <a:ext cx="3190818" cy="1007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3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34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문구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버튼</a:t>
                      </a:r>
                    </a:p>
                  </a:txBody>
                  <a:tcPr marL="24923" marR="24923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CF_SYS_001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목록으로 이동하시겠습니까? 작성하신 내용은 저장되지 않습니다.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 [취소]</a:t>
                      </a:r>
                    </a:p>
                  </a:txBody>
                  <a:tcPr marL="24923" marR="24923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516">
                <a:tc>
                  <a:txBody>
                    <a:bodyPr/>
                    <a:lstStyle/>
                    <a:p>
                      <a:r>
                        <a:t>CF_SYS_002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선택하신 항목을 삭제하시겠습니까?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 [취소]</a:t>
                      </a:r>
                    </a:p>
                  </a:txBody>
                  <a:tcPr marL="24923" marR="24923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708066"/>
                  </a:ext>
                </a:extLst>
              </a:tr>
              <a:tr h="199516">
                <a:tc>
                  <a:txBody>
                    <a:bodyPr/>
                    <a:lstStyle/>
                    <a:p>
                      <a:r>
                        <a:t>CF_SYS_003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선택하신 관리부서/권한을 삭제하시겠습니까?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 [취소]</a:t>
                      </a:r>
                    </a:p>
                  </a:txBody>
                  <a:tcPr marL="24923" marR="24923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40071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71394" y="1827308"/>
            <a:ext cx="367088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Confirm</a:t>
            </a:r>
            <a:endParaRPr lang="ko-KR" altLang="en-US" sz="75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C929681-ACC3-F01F-06E0-B6F8DABA57C9}"/>
              </a:ext>
            </a:extLst>
          </p:cNvPr>
          <p:cNvGraphicFramePr>
            <a:graphicFrameLocks noGrp="1"/>
          </p:cNvGraphicFramePr>
          <p:nvPr/>
        </p:nvGraphicFramePr>
        <p:xfrm>
          <a:off x="1284979" y="627537"/>
          <a:ext cx="3190818" cy="44467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079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문구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버튼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AL_SYS_001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사용자 정보가 정상적으로 수정되었습니다.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AL_SYS_002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0000(필수값)을 입력해주세요.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AL_SYS_003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비밀번호와 비밀번호 확인이 일치하지 않습니다.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t>AL_SYS_004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비밀번호 규칙에 맞게 입력해주세요 (영문, 숫자, 특수문자 포함 8~15자).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AL_SYS_005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시작일이 종료일보다 클 수 없습니다.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86723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AL_SYS_006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게시물/항목 선택 후 삭제 버튼을 선택해주세요.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672198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AL_SYS_007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사용할 수 있는 아이디입니다.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90949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AL_SYS_008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이미 등록된 아이디입니다.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16636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AL_SYS_009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사용자 정보가 등록되었습니다.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98098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AL_SYS_010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아이디 중복확인을 진행해주세요.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27997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AL_SYS_011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초기 비밀번호가 정상적으로 변경되었습니다.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30902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AL_SYS_012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해당 계정이 삭제되었습니다.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875002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AL_SYS_013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내용이 성공적으로 저장되었습니다.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2772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t>AL_SYS_014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초기 비밀번호를 변경하신 뒤 사용해주세요.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36801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AL_SYS_015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이미 최상위 루트(1depth)가 등록되어 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8416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t>AL_SYS_016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하위 생성은 2depth까지만 등록할 수 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5425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AL_SYS_017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부모 코드를 삭제할 수 없습니다.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5258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AL_SYS_018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코드에는 숫자만 입력할 수 있습니다.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83279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AL_SYS_019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이메일 형식에 맞게 작성해주세요.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174554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AL_SYS_020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이미 등록된 코드/아이디입니다.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70118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2AE826-7F2B-A28B-DF9B-50C873A1D859}"/>
              </a:ext>
            </a:extLst>
          </p:cNvPr>
          <p:cNvGraphicFramePr>
            <a:graphicFrameLocks noGrp="1"/>
          </p:cNvGraphicFramePr>
          <p:nvPr/>
        </p:nvGraphicFramePr>
        <p:xfrm>
          <a:off x="4668203" y="627537"/>
          <a:ext cx="3190818" cy="1046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0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079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문구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버튼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AL_SYS_021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한글만 입력 가능합니다.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30902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AL_SYS_022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영문만 입력 가능합니다.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875002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AL_SYS_023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이미 등록된 필수값입니다.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527725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r>
                        <a:t>AL_COM_001</a:t>
                      </a:r>
                    </a:p>
                  </a:txBody>
                  <a:tcPr marL="0" marR="0" marT="34290" marB="3429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해당 메뉴에 접근 권한이 없습니다.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[확인]</a:t>
                      </a:r>
                    </a:p>
                  </a:txBody>
                  <a:tcPr marL="63305" marR="63305" marT="34290" marB="342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3286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lIns="0" tIns="0" rIns="0" bIns="0" rtlCol="0" anchor="ctr">
        <a:noAutofit/>
      </a:bodyPr>
      <a:lstStyle>
        <a:defPPr algn="ctr">
          <a:lnSpc>
            <a:spcPct val="130000"/>
          </a:lnSpc>
          <a:defRPr sz="800" smtClean="0">
            <a:latin typeface="+mn-ea"/>
          </a:defRPr>
        </a:defPPr>
      </a:lstStyle>
    </a:spDef>
    <a:lnDef>
      <a:spPr>
        <a:ln w="3175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64420</TotalTime>
  <Words>773</Words>
  <Application>Microsoft Macintosh PowerPoint</Application>
  <PresentationFormat>On-screen Show (16:9)</PresentationFormat>
  <Paragraphs>289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맑은 고딕</vt:lpstr>
      <vt:lpstr>Arial</vt:lpstr>
      <vt:lpstr>Segoe UI</vt:lpstr>
      <vt:lpstr>Wingdings</vt:lpstr>
      <vt:lpstr>Office 테마</vt:lpstr>
      <vt:lpstr>Office 2013 - 2022 테마</vt:lpstr>
      <vt:lpstr>[00지파] 프로젝트명</vt:lpstr>
      <vt:lpstr>PowerPoint Presentation</vt:lpstr>
      <vt:lpstr>PowerPoint Presentation</vt:lpstr>
      <vt:lpstr>PowerPoint Presentation</vt:lpstr>
    </vt:vector>
  </TitlesOfParts>
  <Company>Twins3D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 가이드</dc:title>
  <dc:creator>이정훈</dc:creator>
  <dc:description>..</dc:description>
  <cp:lastModifiedBy>권 민석</cp:lastModifiedBy>
  <cp:revision>1572</cp:revision>
  <cp:lastPrinted>2018-01-27T04:46:28Z</cp:lastPrinted>
  <dcterms:created xsi:type="dcterms:W3CDTF">2012-12-12T07:35:12Z</dcterms:created>
  <dcterms:modified xsi:type="dcterms:W3CDTF">2026-03-07T15:30:28Z</dcterms:modified>
</cp:coreProperties>
</file>